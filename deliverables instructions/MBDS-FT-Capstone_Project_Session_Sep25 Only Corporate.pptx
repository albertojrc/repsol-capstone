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310" r:id="rId3"/>
    <p:sldId id="311" r:id="rId4"/>
    <p:sldId id="300" r:id="rId5"/>
    <p:sldId id="312" r:id="rId6"/>
    <p:sldId id="304" r:id="rId7"/>
    <p:sldId id="264" r:id="rId8"/>
    <p:sldId id="256" r:id="rId9"/>
    <p:sldId id="293" r:id="rId10"/>
    <p:sldId id="296" r:id="rId11"/>
    <p:sldId id="294" r:id="rId12"/>
    <p:sldId id="297" r:id="rId13"/>
    <p:sldId id="295" r:id="rId14"/>
    <p:sldId id="318" r:id="rId15"/>
    <p:sldId id="320" r:id="rId16"/>
    <p:sldId id="319" r:id="rId17"/>
    <p:sldId id="298" r:id="rId18"/>
    <p:sldId id="299" r:id="rId19"/>
  </p:sldIdLst>
  <p:sldSz cx="18288000" cy="10287000"/>
  <p:notesSz cx="6858000" cy="9144000"/>
  <p:defaultTextStyle>
    <a:defPPr>
      <a:defRPr lang="es-ES"/>
    </a:defPPr>
    <a:lvl1pPr marL="0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6422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32844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49266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65688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82110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98532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714954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31376" algn="l" defTabSz="8164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69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204"/>
    <a:srgbClr val="01808F"/>
    <a:srgbClr val="001965"/>
    <a:srgbClr val="562672"/>
    <a:srgbClr val="D60900"/>
    <a:srgbClr val="DA0011"/>
    <a:srgbClr val="FFFFFF"/>
    <a:srgbClr val="F4F4F4"/>
    <a:srgbClr val="46BEFF"/>
    <a:srgbClr val="D4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802"/>
  </p:normalViewPr>
  <p:slideViewPr>
    <p:cSldViewPr snapToGrid="0" snapToObjects="1">
      <p:cViewPr varScale="1">
        <p:scale>
          <a:sx n="50" d="100"/>
          <a:sy n="50" d="100"/>
        </p:scale>
        <p:origin x="30" y="228"/>
      </p:cViewPr>
      <p:guideLst>
        <p:guide orient="horz" pos="6169"/>
        <p:guide pos="57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4F722-AD9D-3644-A844-AF577A24E4CD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5C0E9-45EF-C047-8A4C-E6555C646D3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60478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55DF9-963B-914A-A73A-5EA282D58C1D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E9CB6-E37A-E143-B6B3-71850E6965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3409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816422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632844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449266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265688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4082110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898532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714954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531376" algn="l" defTabSz="816422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rgbClr val="001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58374" y="5357093"/>
            <a:ext cx="11592398" cy="2628900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Montserrat Regular"/>
                <a:cs typeface="Montserrat Regular"/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/>
              <a:t>Haga clic para modificar el estilo de subtítulo del patrón</a:t>
            </a:r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458374" y="3477715"/>
            <a:ext cx="11734800" cy="1879378"/>
          </a:xfrm>
        </p:spPr>
        <p:txBody>
          <a:bodyPr>
            <a:normAutofit/>
          </a:bodyPr>
          <a:lstStyle>
            <a:lvl1pPr algn="l">
              <a:defRPr sz="7100">
                <a:solidFill>
                  <a:schemeClr val="bg1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pic>
        <p:nvPicPr>
          <p:cNvPr id="12" name="Object 2" descr="Object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876550" cy="7429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Object 1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7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0019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4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876550" y="0"/>
            <a:ext cx="4554538" cy="10287000"/>
          </a:xfrm>
        </p:spPr>
        <p:txBody>
          <a:bodyPr/>
          <a:lstStyle/>
          <a:p>
            <a:endParaRPr lang="es-ES"/>
          </a:p>
        </p:txBody>
      </p:sp>
      <p:pic>
        <p:nvPicPr>
          <p:cNvPr id="9" name="Object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0"/>
            <a:ext cx="2863000" cy="103068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462412" y="3984621"/>
            <a:ext cx="9044139" cy="2043113"/>
          </a:xfrm>
        </p:spPr>
        <p:txBody>
          <a:bodyPr anchor="t"/>
          <a:lstStyle>
            <a:lvl1pPr algn="l">
              <a:lnSpc>
                <a:spcPct val="90000"/>
              </a:lnSpc>
              <a:defRPr sz="7100" b="0" cap="none">
                <a:solidFill>
                  <a:srgbClr val="6DC204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462412" y="5437733"/>
            <a:ext cx="8685949" cy="1239810"/>
          </a:xfrm>
        </p:spPr>
        <p:txBody>
          <a:bodyPr anchor="t"/>
          <a:lstStyle>
            <a:lvl1pPr marL="0" indent="0">
              <a:buNone/>
              <a:defRPr sz="36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 marL="81642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844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26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68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211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532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95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37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8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907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2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835275" y="0"/>
            <a:ext cx="4579938" cy="10287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462412" y="3984621"/>
            <a:ext cx="9044139" cy="2043113"/>
          </a:xfrm>
        </p:spPr>
        <p:txBody>
          <a:bodyPr anchor="t"/>
          <a:lstStyle>
            <a:lvl1pPr algn="l">
              <a:lnSpc>
                <a:spcPct val="90000"/>
              </a:lnSpc>
              <a:defRPr sz="7100" b="0" cap="none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462412" y="5638253"/>
            <a:ext cx="8685949" cy="1239810"/>
          </a:xfrm>
        </p:spPr>
        <p:txBody>
          <a:bodyPr anchor="t"/>
          <a:lstStyle>
            <a:lvl1pPr marL="0" indent="0">
              <a:buNone/>
              <a:defRPr sz="36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 marL="81642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844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26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68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211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532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95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37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6" name="Object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7415" y="2"/>
            <a:ext cx="2862790" cy="10306044"/>
          </a:xfrm>
          <a:prstGeom prst="rect">
            <a:avLst/>
          </a:prstGeom>
        </p:spPr>
      </p:pic>
      <p:sp>
        <p:nvSpPr>
          <p:cNvPr id="8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79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1">
    <p:bg>
      <p:bgPr>
        <a:solidFill>
          <a:srgbClr val="46B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58374" y="5357093"/>
            <a:ext cx="11592398" cy="2628900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Montserrat Regular"/>
                <a:cs typeface="Montserrat Regular"/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/>
              <a:t>Haga clic para modificar el estilo de subtítulo del patrón</a:t>
            </a:r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458374" y="3477715"/>
            <a:ext cx="11734800" cy="1879378"/>
          </a:xfrm>
        </p:spPr>
        <p:txBody>
          <a:bodyPr>
            <a:normAutofit/>
          </a:bodyPr>
          <a:lstStyle>
            <a:lvl1pPr algn="l">
              <a:defRPr sz="7100">
                <a:solidFill>
                  <a:schemeClr val="bg1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pic>
        <p:nvPicPr>
          <p:cNvPr id="7" name="Object 1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6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30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876550" y="0"/>
            <a:ext cx="5143500" cy="10287000"/>
          </a:xfrm>
        </p:spPr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87566" y="1600145"/>
            <a:ext cx="8800434" cy="1714500"/>
          </a:xfrm>
        </p:spPr>
        <p:txBody>
          <a:bodyPr>
            <a:normAutofit/>
          </a:bodyPr>
          <a:lstStyle>
            <a:lvl1pPr algn="l">
              <a:lnSpc>
                <a:spcPct val="70000"/>
              </a:lnSpc>
              <a:defRPr sz="48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541848" y="3086684"/>
            <a:ext cx="6886010" cy="4190261"/>
          </a:xfrm>
        </p:spPr>
        <p:txBody>
          <a:bodyPr>
            <a:noAutofit/>
          </a:bodyPr>
          <a:lstStyle>
            <a:lvl1pPr>
              <a:defRPr sz="36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3200">
                <a:solidFill>
                  <a:srgbClr val="001965"/>
                </a:solidFill>
                <a:latin typeface="Montserrat Regular"/>
                <a:cs typeface="Montserrat Regular"/>
              </a:defRPr>
            </a:lvl2pPr>
            <a:lvl3pPr>
              <a:defRPr sz="2400">
                <a:solidFill>
                  <a:srgbClr val="001965"/>
                </a:solidFill>
                <a:latin typeface="Montserrat Regular"/>
                <a:cs typeface="Montserrat Regular"/>
              </a:defRPr>
            </a:lvl3pPr>
            <a:lvl4pPr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4pPr>
            <a:lvl5pPr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pic>
        <p:nvPicPr>
          <p:cNvPr id="10" name="Object 1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8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969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rgbClr val="001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876550" y="0"/>
            <a:ext cx="4572000" cy="10287000"/>
          </a:xfrm>
        </p:spPr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772835" y="2652384"/>
            <a:ext cx="5740936" cy="1714500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772835" y="5170404"/>
            <a:ext cx="8077200" cy="42056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  <a:lvl2pPr marL="816422" indent="0">
              <a:buNone/>
              <a:defRPr sz="4300"/>
            </a:lvl2pPr>
            <a:lvl3pPr marL="1632844" indent="0">
              <a:buNone/>
              <a:defRPr sz="3600"/>
            </a:lvl3pPr>
            <a:lvl4pPr marL="2449266" indent="0">
              <a:buNone/>
              <a:defRPr sz="3200"/>
            </a:lvl4pPr>
            <a:lvl5pPr marL="3265688" indent="0">
              <a:buNone/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1" name="Object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12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>
                <a:solidFill>
                  <a:srgbClr val="001965"/>
                </a:solidFill>
              </a:rPr>
              <a:pPr/>
              <a:t>‹#›</a:t>
            </a:fld>
            <a:endParaRPr lang="es-ES" dirty="0">
              <a:solidFill>
                <a:srgbClr val="0019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35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sz="quarter" idx="14"/>
          </p:nvPr>
        </p:nvSpPr>
        <p:spPr>
          <a:xfrm>
            <a:off x="2876550" y="0"/>
            <a:ext cx="4719638" cy="10306050"/>
          </a:xfrm>
        </p:spPr>
        <p:txBody>
          <a:bodyPr/>
          <a:lstStyle/>
          <a:p>
            <a:endParaRPr lang="es-ES"/>
          </a:p>
        </p:txBody>
      </p:sp>
      <p:pic>
        <p:nvPicPr>
          <p:cNvPr id="11" name="Object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772835" y="3824760"/>
            <a:ext cx="8077200" cy="1714500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6DC204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13" name="Marcador de contenido 3"/>
          <p:cNvSpPr>
            <a:spLocks noGrp="1"/>
          </p:cNvSpPr>
          <p:nvPr>
            <p:ph sz="half" idx="2"/>
          </p:nvPr>
        </p:nvSpPr>
        <p:spPr>
          <a:xfrm>
            <a:off x="8772834" y="5539260"/>
            <a:ext cx="8077200" cy="42056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 marL="816422" indent="0">
              <a:buNone/>
              <a:defRPr sz="4300"/>
            </a:lvl2pPr>
            <a:lvl3pPr marL="1632844" indent="0">
              <a:buNone/>
              <a:defRPr sz="3600"/>
            </a:lvl3pPr>
            <a:lvl4pPr marL="2449266" indent="0">
              <a:buNone/>
              <a:defRPr sz="3200"/>
            </a:lvl4pPr>
            <a:lvl5pPr marL="3265688" indent="0">
              <a:buNone/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3"/>
          </p:nvPr>
        </p:nvSpPr>
        <p:spPr>
          <a:xfrm>
            <a:off x="917193" y="1364151"/>
            <a:ext cx="6132895" cy="1713855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5300">
                <a:solidFill>
                  <a:srgbClr val="FFFFFF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14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204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sz="quarter" idx="11"/>
          </p:nvPr>
        </p:nvSpPr>
        <p:spPr>
          <a:xfrm>
            <a:off x="2876550" y="0"/>
            <a:ext cx="5413375" cy="10306050"/>
          </a:xfrm>
        </p:spPr>
        <p:txBody>
          <a:bodyPr/>
          <a:lstStyle/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8943898" y="4568971"/>
            <a:ext cx="8424862" cy="10922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0" name="Título 1"/>
          <p:cNvSpPr>
            <a:spLocks noGrp="1"/>
          </p:cNvSpPr>
          <p:nvPr>
            <p:ph type="ctrTitle"/>
          </p:nvPr>
        </p:nvSpPr>
        <p:spPr>
          <a:xfrm>
            <a:off x="8960179" y="2689593"/>
            <a:ext cx="9327821" cy="1879378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21" name="Marcador de contenido 3"/>
          <p:cNvSpPr>
            <a:spLocks noGrp="1"/>
          </p:cNvSpPr>
          <p:nvPr>
            <p:ph sz="half" idx="2"/>
          </p:nvPr>
        </p:nvSpPr>
        <p:spPr>
          <a:xfrm>
            <a:off x="8960179" y="5326692"/>
            <a:ext cx="8077200" cy="42056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 marL="816422" indent="0">
              <a:buNone/>
              <a:defRPr sz="4300"/>
            </a:lvl2pPr>
            <a:lvl3pPr marL="1632844" indent="0">
              <a:buNone/>
              <a:defRPr sz="3600"/>
            </a:lvl3pPr>
            <a:lvl4pPr marL="2449266" indent="0">
              <a:buNone/>
              <a:defRPr sz="3200"/>
            </a:lvl4pPr>
            <a:lvl5pPr marL="3265688" indent="0">
              <a:buNone/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9" name="Object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10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661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DC83983-7BDB-8CF7-62E3-9856EFA071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38" name="Título 37"/>
          <p:cNvSpPr>
            <a:spLocks noGrp="1"/>
          </p:cNvSpPr>
          <p:nvPr>
            <p:ph type="title"/>
          </p:nvPr>
        </p:nvSpPr>
        <p:spPr>
          <a:xfrm>
            <a:off x="1558446" y="4935860"/>
            <a:ext cx="4238625" cy="499910"/>
          </a:xfrm>
        </p:spPr>
        <p:txBody>
          <a:bodyPr>
            <a:normAutofit/>
          </a:bodyPr>
          <a:lstStyle>
            <a:lvl1pPr algn="l">
              <a:defRPr sz="27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40" name="Marcador de texto 39"/>
          <p:cNvSpPr>
            <a:spLocks noGrp="1"/>
          </p:cNvSpPr>
          <p:nvPr>
            <p:ph type="body" sz="quarter" idx="13"/>
          </p:nvPr>
        </p:nvSpPr>
        <p:spPr>
          <a:xfrm>
            <a:off x="1542165" y="5625751"/>
            <a:ext cx="2867025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>
          <a:xfrm>
            <a:off x="1704975" y="1622425"/>
            <a:ext cx="14969119" cy="1317625"/>
          </a:xfrm>
        </p:spPr>
        <p:txBody>
          <a:bodyPr/>
          <a:lstStyle>
            <a:lvl1pPr marL="0" indent="0">
              <a:buNone/>
              <a:defRPr>
                <a:solidFill>
                  <a:srgbClr val="46BEFF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4362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bg>
      <p:bgPr>
        <a:solidFill>
          <a:srgbClr val="001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1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847975" y="0"/>
            <a:ext cx="6305550" cy="10306050"/>
          </a:xfrm>
          <a:prstGeom prst="rect">
            <a:avLst/>
          </a:prstGeom>
        </p:spPr>
      </p:pic>
      <p:sp>
        <p:nvSpPr>
          <p:cNvPr id="17" name="Título 1"/>
          <p:cNvSpPr>
            <a:spLocks noGrp="1"/>
          </p:cNvSpPr>
          <p:nvPr>
            <p:ph type="ctrTitle"/>
          </p:nvPr>
        </p:nvSpPr>
        <p:spPr>
          <a:xfrm>
            <a:off x="3651134" y="1542865"/>
            <a:ext cx="4527608" cy="1879378"/>
          </a:xfrm>
        </p:spPr>
        <p:txBody>
          <a:bodyPr>
            <a:normAutofit/>
          </a:bodyPr>
          <a:lstStyle>
            <a:lvl1pPr algn="l">
              <a:lnSpc>
                <a:spcPct val="70000"/>
              </a:lnSpc>
              <a:defRPr sz="48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18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3651134" y="3628143"/>
            <a:ext cx="4527608" cy="2953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0" name="Object 2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12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565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">
    <p:bg>
      <p:bgPr>
        <a:solidFill>
          <a:srgbClr val="001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1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2266950"/>
            <a:ext cx="18307050" cy="80200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F555876-80F5-2062-FC87-5A68577F36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" y="7030627"/>
            <a:ext cx="2875158" cy="3287263"/>
          </a:xfrm>
          <a:prstGeom prst="rect">
            <a:avLst/>
          </a:prstGeom>
        </p:spPr>
      </p:pic>
      <p:sp>
        <p:nvSpPr>
          <p:cNvPr id="25" name="Marcador de posición de imagen 24"/>
          <p:cNvSpPr>
            <a:spLocks noGrp="1"/>
          </p:cNvSpPr>
          <p:nvPr>
            <p:ph type="pic" sz="quarter" idx="15"/>
          </p:nvPr>
        </p:nvSpPr>
        <p:spPr>
          <a:xfrm>
            <a:off x="1457325" y="3377994"/>
            <a:ext cx="3200400" cy="320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s-ES" dirty="0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>
          <a:xfrm>
            <a:off x="930681" y="395674"/>
            <a:ext cx="12737694" cy="1428060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FFFFFF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20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1392201" y="2334643"/>
            <a:ext cx="4355106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1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1343358" y="6985292"/>
            <a:ext cx="4322544" cy="10922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FFFFFF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2" name="Marcador de número de diapositiva 5"/>
          <p:cNvSpPr txBox="1">
            <a:spLocks/>
          </p:cNvSpPr>
          <p:nvPr userDrawn="1"/>
        </p:nvSpPr>
        <p:spPr>
          <a:xfrm>
            <a:off x="16554450" y="812016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ctr" defTabSz="816422" rtl="0" eaLnBrk="1" latinLnBrk="0" hangingPunct="1">
              <a:defRPr sz="3600" kern="1200">
                <a:solidFill>
                  <a:srgbClr val="001965"/>
                </a:solidFill>
                <a:latin typeface="Georgia"/>
                <a:ea typeface="+mn-ea"/>
                <a:cs typeface="Georgia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3" name="Object 5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81738" y="2737914"/>
            <a:ext cx="19050" cy="5734050"/>
          </a:xfrm>
          <a:prstGeom prst="rect">
            <a:avLst/>
          </a:prstGeom>
        </p:spPr>
      </p:pic>
      <p:pic>
        <p:nvPicPr>
          <p:cNvPr id="14" name="Object 6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425238" y="2737914"/>
            <a:ext cx="19050" cy="5734050"/>
          </a:xfrm>
          <a:prstGeom prst="rect">
            <a:avLst/>
          </a:prstGeom>
        </p:spPr>
      </p:pic>
      <p:sp>
        <p:nvSpPr>
          <p:cNvPr id="15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3106400" y="9403780"/>
            <a:ext cx="4267200" cy="547688"/>
          </a:xfrm>
          <a:prstGeom prst="rect">
            <a:avLst/>
          </a:prstGeom>
        </p:spPr>
        <p:txBody>
          <a:bodyPr/>
          <a:lstStyle>
            <a:lvl1pPr algn="r">
              <a:defRPr sz="24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383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4415946" y="4561044"/>
            <a:ext cx="4355106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15946" y="895583"/>
            <a:ext cx="12801600" cy="1563201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6DC204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23" name="Marcador de texto 39"/>
          <p:cNvSpPr>
            <a:spLocks noGrp="1"/>
          </p:cNvSpPr>
          <p:nvPr>
            <p:ph type="body" sz="quarter" idx="14"/>
          </p:nvPr>
        </p:nvSpPr>
        <p:spPr>
          <a:xfrm>
            <a:off x="4415946" y="5409551"/>
            <a:ext cx="4355105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4" name="Marcador de texto 3"/>
          <p:cNvSpPr>
            <a:spLocks noGrp="1"/>
          </p:cNvSpPr>
          <p:nvPr>
            <p:ph type="body" sz="quarter" idx="15"/>
          </p:nvPr>
        </p:nvSpPr>
        <p:spPr>
          <a:xfrm>
            <a:off x="8935116" y="4550614"/>
            <a:ext cx="4355106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5" name="Marcador de texto 39"/>
          <p:cNvSpPr>
            <a:spLocks noGrp="1"/>
          </p:cNvSpPr>
          <p:nvPr>
            <p:ph type="body" sz="quarter" idx="16"/>
          </p:nvPr>
        </p:nvSpPr>
        <p:spPr>
          <a:xfrm>
            <a:off x="8935116" y="5399121"/>
            <a:ext cx="4355105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6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13566758" y="4540184"/>
            <a:ext cx="4355106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7" name="Marcador de texto 39"/>
          <p:cNvSpPr>
            <a:spLocks noGrp="1"/>
          </p:cNvSpPr>
          <p:nvPr>
            <p:ph type="body" sz="quarter" idx="18"/>
          </p:nvPr>
        </p:nvSpPr>
        <p:spPr>
          <a:xfrm>
            <a:off x="13706475" y="5388691"/>
            <a:ext cx="4215389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8" name="Object 4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19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885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/>
          <p:cNvSpPr>
            <a:spLocks noGrp="1"/>
          </p:cNvSpPr>
          <p:nvPr>
            <p:ph type="pic" sz="quarter" idx="20"/>
          </p:nvPr>
        </p:nvSpPr>
        <p:spPr>
          <a:xfrm>
            <a:off x="12553950" y="0"/>
            <a:ext cx="5734050" cy="10306050"/>
          </a:xfrm>
        </p:spPr>
        <p:txBody>
          <a:bodyPr/>
          <a:lstStyle/>
          <a:p>
            <a:endParaRPr lang="es-ES"/>
          </a:p>
        </p:txBody>
      </p:sp>
      <p:sp>
        <p:nvSpPr>
          <p:cNvPr id="22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4091322" y="3062337"/>
            <a:ext cx="2893260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5" name="Marcador de texto 3"/>
          <p:cNvSpPr>
            <a:spLocks noGrp="1"/>
          </p:cNvSpPr>
          <p:nvPr>
            <p:ph type="body" sz="quarter" idx="19"/>
          </p:nvPr>
        </p:nvSpPr>
        <p:spPr>
          <a:xfrm>
            <a:off x="7947972" y="3072992"/>
            <a:ext cx="2999647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91322" y="830451"/>
            <a:ext cx="12801600" cy="1563201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23" name="Marcador de texto 39"/>
          <p:cNvSpPr>
            <a:spLocks noGrp="1"/>
          </p:cNvSpPr>
          <p:nvPr>
            <p:ph type="body" sz="quarter" idx="14"/>
          </p:nvPr>
        </p:nvSpPr>
        <p:spPr>
          <a:xfrm>
            <a:off x="4091322" y="4761061"/>
            <a:ext cx="3424737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5" name="Marcador de texto 39"/>
          <p:cNvSpPr>
            <a:spLocks noGrp="1"/>
          </p:cNvSpPr>
          <p:nvPr>
            <p:ph type="body" sz="quarter" idx="16"/>
          </p:nvPr>
        </p:nvSpPr>
        <p:spPr>
          <a:xfrm>
            <a:off x="7947973" y="4761061"/>
            <a:ext cx="3792631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3" name="Object 4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pic>
        <p:nvPicPr>
          <p:cNvPr id="15" name="Object 2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90975" y="2833688"/>
            <a:ext cx="7448550" cy="38100"/>
          </a:xfrm>
          <a:prstGeom prst="rect">
            <a:avLst/>
          </a:prstGeom>
        </p:spPr>
      </p:pic>
      <p:pic>
        <p:nvPicPr>
          <p:cNvPr id="16" name="Object 3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90975" y="3986213"/>
            <a:ext cx="7448550" cy="19050"/>
          </a:xfrm>
          <a:prstGeom prst="rect">
            <a:avLst/>
          </a:prstGeom>
        </p:spPr>
      </p:pic>
      <p:sp>
        <p:nvSpPr>
          <p:cNvPr id="12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188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ject 1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982450" y="0"/>
            <a:ext cx="6305550" cy="10306050"/>
          </a:xfrm>
          <a:prstGeom prst="rect">
            <a:avLst/>
          </a:prstGeom>
        </p:spPr>
      </p:pic>
      <p:pic>
        <p:nvPicPr>
          <p:cNvPr id="19" name="Object 11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22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4844916" y="1862582"/>
            <a:ext cx="2493272" cy="1416050"/>
          </a:xfrm>
        </p:spPr>
        <p:txBody>
          <a:bodyPr anchor="ctr"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3" name="Marcador de texto 39"/>
          <p:cNvSpPr>
            <a:spLocks noGrp="1"/>
          </p:cNvSpPr>
          <p:nvPr>
            <p:ph type="body" sz="quarter" idx="14"/>
          </p:nvPr>
        </p:nvSpPr>
        <p:spPr>
          <a:xfrm>
            <a:off x="7504406" y="1862582"/>
            <a:ext cx="3221630" cy="1416050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4" name="Marcador de texto 3"/>
          <p:cNvSpPr>
            <a:spLocks noGrp="1"/>
          </p:cNvSpPr>
          <p:nvPr>
            <p:ph type="body" sz="quarter" idx="15"/>
          </p:nvPr>
        </p:nvSpPr>
        <p:spPr>
          <a:xfrm>
            <a:off x="4844916" y="4693454"/>
            <a:ext cx="2493272" cy="1416050"/>
          </a:xfrm>
        </p:spPr>
        <p:txBody>
          <a:bodyPr anchor="ctr"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5" name="Marcador de texto 39"/>
          <p:cNvSpPr>
            <a:spLocks noGrp="1"/>
          </p:cNvSpPr>
          <p:nvPr>
            <p:ph type="body" sz="quarter" idx="16"/>
          </p:nvPr>
        </p:nvSpPr>
        <p:spPr>
          <a:xfrm>
            <a:off x="7472778" y="4693454"/>
            <a:ext cx="3253258" cy="1416050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105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4844915" y="8100805"/>
            <a:ext cx="5884173" cy="1092200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106" name="Marcador de texto 3"/>
          <p:cNvSpPr>
            <a:spLocks noGrp="1"/>
          </p:cNvSpPr>
          <p:nvPr>
            <p:ph type="body" sz="quarter" idx="18"/>
          </p:nvPr>
        </p:nvSpPr>
        <p:spPr>
          <a:xfrm>
            <a:off x="13432990" y="1064966"/>
            <a:ext cx="4463879" cy="1092200"/>
          </a:xfrm>
        </p:spPr>
        <p:txBody>
          <a:bodyPr>
            <a:noAutofit/>
          </a:bodyPr>
          <a:lstStyle>
            <a:lvl1pPr marL="0" indent="0">
              <a:buNone/>
              <a:defRPr sz="2700">
                <a:solidFill>
                  <a:schemeClr val="bg1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107" name="Marcador de texto 3"/>
          <p:cNvSpPr>
            <a:spLocks noGrp="1"/>
          </p:cNvSpPr>
          <p:nvPr>
            <p:ph type="body" sz="quarter" idx="19"/>
          </p:nvPr>
        </p:nvSpPr>
        <p:spPr>
          <a:xfrm>
            <a:off x="13432990" y="6779352"/>
            <a:ext cx="4463879" cy="1092200"/>
          </a:xfrm>
        </p:spPr>
        <p:txBody>
          <a:bodyPr>
            <a:noAutofit/>
          </a:bodyPr>
          <a:lstStyle>
            <a:lvl1pPr marL="0" indent="0">
              <a:buNone/>
              <a:defRPr sz="2700">
                <a:solidFill>
                  <a:schemeClr val="bg1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1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370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/>
          <p:cNvSpPr>
            <a:spLocks noGrp="1"/>
          </p:cNvSpPr>
          <p:nvPr>
            <p:ph type="pic" sz="quarter" idx="24"/>
          </p:nvPr>
        </p:nvSpPr>
        <p:spPr>
          <a:xfrm>
            <a:off x="2876550" y="7429128"/>
            <a:ext cx="15411450" cy="2876550"/>
          </a:xfrm>
        </p:spPr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77353" y="830451"/>
            <a:ext cx="13495049" cy="1563201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6DC204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22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3977353" y="4523504"/>
            <a:ext cx="3324582" cy="1092200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5" name="Marcador de texto 39"/>
          <p:cNvSpPr>
            <a:spLocks noGrp="1"/>
          </p:cNvSpPr>
          <p:nvPr>
            <p:ph type="body" sz="quarter" idx="16"/>
          </p:nvPr>
        </p:nvSpPr>
        <p:spPr>
          <a:xfrm>
            <a:off x="3977352" y="5399500"/>
            <a:ext cx="3324583" cy="176799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6" name="Marcador de texto 3"/>
          <p:cNvSpPr>
            <a:spLocks noGrp="1"/>
          </p:cNvSpPr>
          <p:nvPr>
            <p:ph type="body" sz="quarter" idx="20"/>
          </p:nvPr>
        </p:nvSpPr>
        <p:spPr>
          <a:xfrm>
            <a:off x="8875558" y="4547016"/>
            <a:ext cx="3417333" cy="1092200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7" name="Marcador de texto 39"/>
          <p:cNvSpPr>
            <a:spLocks noGrp="1"/>
          </p:cNvSpPr>
          <p:nvPr>
            <p:ph type="body" sz="quarter" idx="21"/>
          </p:nvPr>
        </p:nvSpPr>
        <p:spPr>
          <a:xfrm>
            <a:off x="8875558" y="5423012"/>
            <a:ext cx="3417333" cy="176799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8" name="Marcador de texto 3"/>
          <p:cNvSpPr>
            <a:spLocks noGrp="1"/>
          </p:cNvSpPr>
          <p:nvPr>
            <p:ph type="body" sz="quarter" idx="22"/>
          </p:nvPr>
        </p:nvSpPr>
        <p:spPr>
          <a:xfrm>
            <a:off x="13440265" y="4535260"/>
            <a:ext cx="3324582" cy="1092200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9" name="Marcador de texto 39"/>
          <p:cNvSpPr>
            <a:spLocks noGrp="1"/>
          </p:cNvSpPr>
          <p:nvPr>
            <p:ph type="body" sz="quarter" idx="23"/>
          </p:nvPr>
        </p:nvSpPr>
        <p:spPr>
          <a:xfrm>
            <a:off x="13440264" y="5411256"/>
            <a:ext cx="3324583" cy="1767992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8" name="Object 5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21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056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ólo el título">
    <p:bg>
      <p:bgPr>
        <a:solidFill>
          <a:srgbClr val="46B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sz="quarter" idx="14"/>
          </p:nvPr>
        </p:nvSpPr>
        <p:spPr>
          <a:xfrm>
            <a:off x="10839450" y="0"/>
            <a:ext cx="7448550" cy="10287000"/>
          </a:xfrm>
        </p:spPr>
        <p:txBody>
          <a:bodyPr/>
          <a:lstStyle/>
          <a:p>
            <a:endParaRPr lang="es-ES"/>
          </a:p>
        </p:txBody>
      </p:sp>
      <p:pic>
        <p:nvPicPr>
          <p:cNvPr id="12" name="Object 2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17" name="Título 1"/>
          <p:cNvSpPr>
            <a:spLocks noGrp="1"/>
          </p:cNvSpPr>
          <p:nvPr>
            <p:ph type="ctrTitle"/>
          </p:nvPr>
        </p:nvSpPr>
        <p:spPr>
          <a:xfrm>
            <a:off x="4099981" y="2874869"/>
            <a:ext cx="5730982" cy="1879378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rgbClr val="FFFFFF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18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4067419" y="4754247"/>
            <a:ext cx="5763544" cy="2953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13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>
                <a:solidFill>
                  <a:srgbClr val="001965"/>
                </a:solidFill>
              </a:rPr>
              <a:pPr/>
              <a:t>‹#›</a:t>
            </a:fld>
            <a:endParaRPr lang="es-ES" dirty="0">
              <a:solidFill>
                <a:srgbClr val="0019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24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sz="quarter" idx="13"/>
          </p:nvPr>
        </p:nvSpPr>
        <p:spPr>
          <a:xfrm>
            <a:off x="2583638" y="0"/>
            <a:ext cx="6021192" cy="10287000"/>
          </a:xfrm>
        </p:spPr>
        <p:txBody>
          <a:bodyPr/>
          <a:lstStyle/>
          <a:p>
            <a:endParaRPr lang="es-ES"/>
          </a:p>
        </p:txBody>
      </p:sp>
      <p:sp>
        <p:nvSpPr>
          <p:cNvPr id="28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13268824" y="6570026"/>
            <a:ext cx="3835806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9285490" y="6571356"/>
            <a:ext cx="3835806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0" name="Título 1"/>
          <p:cNvSpPr>
            <a:spLocks noGrp="1"/>
          </p:cNvSpPr>
          <p:nvPr>
            <p:ph type="ctrTitle"/>
          </p:nvPr>
        </p:nvSpPr>
        <p:spPr>
          <a:xfrm>
            <a:off x="9229225" y="2023424"/>
            <a:ext cx="9409226" cy="1879378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21" name="Marcador de contenido 3"/>
          <p:cNvSpPr>
            <a:spLocks noGrp="1"/>
          </p:cNvSpPr>
          <p:nvPr>
            <p:ph sz="half" idx="2"/>
          </p:nvPr>
        </p:nvSpPr>
        <p:spPr>
          <a:xfrm>
            <a:off x="9229225" y="3902802"/>
            <a:ext cx="7086600" cy="223601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 marL="816422" indent="0">
              <a:buNone/>
              <a:defRPr sz="4300"/>
            </a:lvl2pPr>
            <a:lvl3pPr marL="1632844" indent="0">
              <a:buNone/>
              <a:defRPr sz="3600"/>
            </a:lvl3pPr>
            <a:lvl4pPr marL="2449266" indent="0">
              <a:buNone/>
              <a:defRPr sz="3200"/>
            </a:lvl4pPr>
            <a:lvl5pPr marL="3265688" indent="0">
              <a:buNone/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2" name="Object 4" descr="Object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8775" y="6262687"/>
            <a:ext cx="6877050" cy="38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Object 5" descr="Object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38775" y="7415213"/>
            <a:ext cx="6877050" cy="19051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CuadroTexto 25"/>
          <p:cNvSpPr txBox="1"/>
          <p:nvPr userDrawn="1"/>
        </p:nvSpPr>
        <p:spPr>
          <a:xfrm>
            <a:off x="9068395" y="-214639"/>
            <a:ext cx="9233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9" name="Marcador de texto 3"/>
          <p:cNvSpPr>
            <a:spLocks noGrp="1"/>
          </p:cNvSpPr>
          <p:nvPr>
            <p:ph type="body" sz="quarter" idx="15"/>
          </p:nvPr>
        </p:nvSpPr>
        <p:spPr>
          <a:xfrm>
            <a:off x="9285490" y="8084474"/>
            <a:ext cx="3835806" cy="10922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0" name="Marcador de texto 3"/>
          <p:cNvSpPr>
            <a:spLocks noGrp="1"/>
          </p:cNvSpPr>
          <p:nvPr>
            <p:ph type="body" sz="quarter" idx="16"/>
          </p:nvPr>
        </p:nvSpPr>
        <p:spPr>
          <a:xfrm>
            <a:off x="13268824" y="8083144"/>
            <a:ext cx="3835806" cy="10922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7"/>
          </p:nvPr>
        </p:nvSpPr>
        <p:spPr>
          <a:xfrm>
            <a:off x="9229225" y="862241"/>
            <a:ext cx="6332538" cy="1487488"/>
          </a:xfrm>
        </p:spPr>
        <p:txBody>
          <a:bodyPr>
            <a:normAutofit/>
          </a:bodyPr>
          <a:lstStyle>
            <a:lvl1pPr marL="0" indent="0" algn="l">
              <a:buNone/>
              <a:defRPr sz="27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7" name="Object 4"/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18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453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bject 2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67950" y="0"/>
            <a:ext cx="8020050" cy="10306050"/>
          </a:xfrm>
          <a:prstGeom prst="rect">
            <a:avLst/>
          </a:prstGeom>
        </p:spPr>
      </p:pic>
      <p:pic>
        <p:nvPicPr>
          <p:cNvPr id="20" name="Object 1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47975" y="0"/>
            <a:ext cx="7448550" cy="10306050"/>
          </a:xfrm>
          <a:prstGeom prst="rect">
            <a:avLst/>
          </a:prstGeom>
        </p:spPr>
      </p:pic>
      <p:sp>
        <p:nvSpPr>
          <p:cNvPr id="35" name="Marcador de posición de imagen 2"/>
          <p:cNvSpPr>
            <a:spLocks noGrp="1"/>
          </p:cNvSpPr>
          <p:nvPr>
            <p:ph type="pic" sz="quarter" idx="17"/>
          </p:nvPr>
        </p:nvSpPr>
        <p:spPr>
          <a:xfrm>
            <a:off x="11659090" y="1143000"/>
            <a:ext cx="4562475" cy="4572000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3"/>
          </p:nvPr>
        </p:nvSpPr>
        <p:spPr>
          <a:xfrm>
            <a:off x="4000500" y="1143001"/>
            <a:ext cx="4562475" cy="4572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6" name="Marcador de texto 3"/>
          <p:cNvSpPr>
            <a:spLocks noGrp="1"/>
          </p:cNvSpPr>
          <p:nvPr>
            <p:ph type="body" sz="quarter" idx="18"/>
          </p:nvPr>
        </p:nvSpPr>
        <p:spPr>
          <a:xfrm>
            <a:off x="4000500" y="6014422"/>
            <a:ext cx="4562475" cy="1092200"/>
          </a:xfrm>
        </p:spPr>
        <p:txBody>
          <a:bodyPr>
            <a:noAutofit/>
          </a:bodyPr>
          <a:lstStyle>
            <a:lvl1pPr marL="0" indent="0">
              <a:buNone/>
              <a:defRPr sz="27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4000500" y="6992274"/>
            <a:ext cx="5202784" cy="10922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FFFFFF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8" name="Marcador de texto 3"/>
          <p:cNvSpPr>
            <a:spLocks noGrp="1"/>
          </p:cNvSpPr>
          <p:nvPr>
            <p:ph type="body" sz="quarter" idx="14"/>
          </p:nvPr>
        </p:nvSpPr>
        <p:spPr>
          <a:xfrm>
            <a:off x="11668614" y="6006316"/>
            <a:ext cx="4856195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6" name="CuadroTexto 25"/>
          <p:cNvSpPr txBox="1"/>
          <p:nvPr userDrawn="1"/>
        </p:nvSpPr>
        <p:spPr>
          <a:xfrm>
            <a:off x="8192595" y="-214639"/>
            <a:ext cx="9233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9" name="Marcador de texto 3"/>
          <p:cNvSpPr>
            <a:spLocks noGrp="1"/>
          </p:cNvSpPr>
          <p:nvPr>
            <p:ph type="body" sz="quarter" idx="15"/>
          </p:nvPr>
        </p:nvSpPr>
        <p:spPr>
          <a:xfrm>
            <a:off x="4000500" y="7992339"/>
            <a:ext cx="4410826" cy="174835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7" name="Marcador de texto 3"/>
          <p:cNvSpPr>
            <a:spLocks noGrp="1"/>
          </p:cNvSpPr>
          <p:nvPr>
            <p:ph type="body" sz="quarter" idx="19"/>
          </p:nvPr>
        </p:nvSpPr>
        <p:spPr>
          <a:xfrm>
            <a:off x="11668613" y="8051799"/>
            <a:ext cx="4856195" cy="16888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38" name="Marcador de texto 3"/>
          <p:cNvSpPr>
            <a:spLocks noGrp="1"/>
          </p:cNvSpPr>
          <p:nvPr>
            <p:ph type="body" sz="quarter" idx="20"/>
          </p:nvPr>
        </p:nvSpPr>
        <p:spPr>
          <a:xfrm>
            <a:off x="11659090" y="7106622"/>
            <a:ext cx="5202784" cy="1092200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FFFFFF"/>
                </a:solidFill>
                <a:latin typeface="Montserrat Extra Bold"/>
                <a:cs typeface="Montserrat Extra Bold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18" name="Object 5"/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2"/>
            <a:ext cx="2862790" cy="10306044"/>
          </a:xfrm>
          <a:prstGeom prst="rect">
            <a:avLst/>
          </a:prstGeom>
        </p:spPr>
      </p:pic>
      <p:sp>
        <p:nvSpPr>
          <p:cNvPr id="24" name="Marcador de número de diapositiva 5"/>
          <p:cNvSpPr txBox="1">
            <a:spLocks/>
          </p:cNvSpPr>
          <p:nvPr userDrawn="1"/>
        </p:nvSpPr>
        <p:spPr>
          <a:xfrm>
            <a:off x="421267" y="396577"/>
            <a:ext cx="1628133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defPPr>
              <a:defRPr lang="es-ES"/>
            </a:defPPr>
            <a:lvl1pPr marL="0" algn="l" defTabSz="816422" rtl="0" eaLnBrk="1" latinLnBrk="0" hangingPunct="1">
              <a:defRPr sz="2400" b="0" kern="1200">
                <a:solidFill>
                  <a:srgbClr val="FFFFFF"/>
                </a:solidFill>
                <a:latin typeface="Montserrat Regular"/>
                <a:ea typeface="+mn-ea"/>
                <a:cs typeface="Montserrat Regular"/>
              </a:defRPr>
            </a:lvl1pPr>
            <a:lvl2pPr marL="81642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3284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4926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65688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82110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98532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14954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31376" algn="l" defTabSz="816422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56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43F43BDF-1CE5-8DC3-25C8-3013F4FCCB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pic>
        <p:nvPicPr>
          <p:cNvPr id="27" name="Object 1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8307050" cy="2876550"/>
          </a:xfrm>
          <a:prstGeom prst="rect">
            <a:avLst/>
          </a:prstGeom>
        </p:spPr>
      </p:pic>
      <p:sp>
        <p:nvSpPr>
          <p:cNvPr id="48" name="Marcador de posición de imagen 3"/>
          <p:cNvSpPr>
            <a:spLocks noGrp="1"/>
          </p:cNvSpPr>
          <p:nvPr>
            <p:ph type="pic" sz="quarter" idx="26"/>
          </p:nvPr>
        </p:nvSpPr>
        <p:spPr>
          <a:xfrm>
            <a:off x="9580926" y="6741189"/>
            <a:ext cx="1800000" cy="1800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49" name="Marcador de posición de imagen 3"/>
          <p:cNvSpPr>
            <a:spLocks noGrp="1" noChangeAspect="1"/>
          </p:cNvSpPr>
          <p:nvPr>
            <p:ph type="pic" sz="quarter" idx="27"/>
          </p:nvPr>
        </p:nvSpPr>
        <p:spPr>
          <a:xfrm>
            <a:off x="13522409" y="6741189"/>
            <a:ext cx="1800000" cy="1800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47" name="Marcador de posición de imagen 3"/>
          <p:cNvSpPr>
            <a:spLocks noGrp="1"/>
          </p:cNvSpPr>
          <p:nvPr>
            <p:ph type="pic" sz="quarter" idx="25"/>
          </p:nvPr>
        </p:nvSpPr>
        <p:spPr>
          <a:xfrm>
            <a:off x="5568652" y="6741189"/>
            <a:ext cx="1800000" cy="1800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24"/>
          </p:nvPr>
        </p:nvSpPr>
        <p:spPr>
          <a:xfrm>
            <a:off x="1566381" y="6741189"/>
            <a:ext cx="1800000" cy="1800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986947" y="3767765"/>
            <a:ext cx="3632678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46BE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6946" y="611462"/>
            <a:ext cx="12801600" cy="1563201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FFFFFF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5" name="Marcador de texto 3"/>
          <p:cNvSpPr>
            <a:spLocks noGrp="1"/>
          </p:cNvSpPr>
          <p:nvPr>
            <p:ph type="body" sz="quarter" idx="19"/>
          </p:nvPr>
        </p:nvSpPr>
        <p:spPr>
          <a:xfrm>
            <a:off x="5010995" y="3767765"/>
            <a:ext cx="3609129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46BE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3" name="Marcador de texto 39"/>
          <p:cNvSpPr>
            <a:spLocks noGrp="1"/>
          </p:cNvSpPr>
          <p:nvPr>
            <p:ph type="body" sz="quarter" idx="14"/>
          </p:nvPr>
        </p:nvSpPr>
        <p:spPr>
          <a:xfrm>
            <a:off x="986946" y="5267590"/>
            <a:ext cx="3632679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5" name="Marcador de texto 39"/>
          <p:cNvSpPr>
            <a:spLocks noGrp="1"/>
          </p:cNvSpPr>
          <p:nvPr>
            <p:ph type="body" sz="quarter" idx="16"/>
          </p:nvPr>
        </p:nvSpPr>
        <p:spPr>
          <a:xfrm>
            <a:off x="5001472" y="5267590"/>
            <a:ext cx="3619126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3" name="Marcador de texto 3"/>
          <p:cNvSpPr>
            <a:spLocks noGrp="1"/>
          </p:cNvSpPr>
          <p:nvPr>
            <p:ph type="body" sz="quarter" idx="20"/>
          </p:nvPr>
        </p:nvSpPr>
        <p:spPr>
          <a:xfrm>
            <a:off x="9011495" y="3767765"/>
            <a:ext cx="3609130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46BE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4" name="Marcador de texto 39"/>
          <p:cNvSpPr>
            <a:spLocks noGrp="1"/>
          </p:cNvSpPr>
          <p:nvPr>
            <p:ph type="body" sz="quarter" idx="21"/>
          </p:nvPr>
        </p:nvSpPr>
        <p:spPr>
          <a:xfrm>
            <a:off x="9001970" y="5267590"/>
            <a:ext cx="3619127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5" name="Marcador de texto 3"/>
          <p:cNvSpPr>
            <a:spLocks noGrp="1"/>
          </p:cNvSpPr>
          <p:nvPr>
            <p:ph type="body" sz="quarter" idx="22"/>
          </p:nvPr>
        </p:nvSpPr>
        <p:spPr>
          <a:xfrm>
            <a:off x="12943453" y="3756087"/>
            <a:ext cx="3677672" cy="10922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rgbClr val="46BE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6" name="Marcador de texto 39"/>
          <p:cNvSpPr>
            <a:spLocks noGrp="1"/>
          </p:cNvSpPr>
          <p:nvPr>
            <p:ph type="body" sz="quarter" idx="23"/>
          </p:nvPr>
        </p:nvSpPr>
        <p:spPr>
          <a:xfrm>
            <a:off x="12933928" y="5255912"/>
            <a:ext cx="3687859" cy="141605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28" name="Object 2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71575" y="3407195"/>
            <a:ext cx="15449550" cy="38100"/>
          </a:xfrm>
          <a:prstGeom prst="rect">
            <a:avLst/>
          </a:prstGeom>
        </p:spPr>
      </p:pic>
      <p:pic>
        <p:nvPicPr>
          <p:cNvPr id="29" name="Object 3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1575" y="5138738"/>
            <a:ext cx="3448050" cy="19050"/>
          </a:xfrm>
          <a:prstGeom prst="rect">
            <a:avLst/>
          </a:prstGeom>
        </p:spPr>
      </p:pic>
      <p:pic>
        <p:nvPicPr>
          <p:cNvPr id="30" name="Object 4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72575" y="5138738"/>
            <a:ext cx="3448050" cy="19050"/>
          </a:xfrm>
          <a:prstGeom prst="rect">
            <a:avLst/>
          </a:prstGeom>
        </p:spPr>
      </p:pic>
      <p:pic>
        <p:nvPicPr>
          <p:cNvPr id="31" name="Object 5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172075" y="5138738"/>
            <a:ext cx="3448050" cy="19050"/>
          </a:xfrm>
          <a:prstGeom prst="rect">
            <a:avLst/>
          </a:prstGeom>
        </p:spPr>
      </p:pic>
      <p:pic>
        <p:nvPicPr>
          <p:cNvPr id="32" name="Object 6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173075" y="5138738"/>
            <a:ext cx="3448050" cy="19050"/>
          </a:xfrm>
          <a:prstGeom prst="rect">
            <a:avLst/>
          </a:prstGeom>
        </p:spPr>
      </p:pic>
      <p:sp>
        <p:nvSpPr>
          <p:cNvPr id="2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3106400" y="9403780"/>
            <a:ext cx="4267200" cy="547688"/>
          </a:xfrm>
          <a:prstGeom prst="rect">
            <a:avLst/>
          </a:prstGeom>
        </p:spPr>
        <p:txBody>
          <a:bodyPr/>
          <a:lstStyle>
            <a:lvl1pPr algn="r">
              <a:defRPr sz="24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50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Object 1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9050" y="2838450"/>
            <a:ext cx="18307050" cy="7448550"/>
          </a:xfrm>
          <a:prstGeom prst="rect">
            <a:avLst/>
          </a:prstGeom>
        </p:spPr>
      </p:pic>
      <p:pic>
        <p:nvPicPr>
          <p:cNvPr id="32" name="Object 7" descr="Object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173075" y="4559719"/>
            <a:ext cx="3448050" cy="1905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Marcador de texto 3"/>
          <p:cNvSpPr>
            <a:spLocks noGrp="1"/>
          </p:cNvSpPr>
          <p:nvPr>
            <p:ph type="body" sz="quarter" idx="13"/>
          </p:nvPr>
        </p:nvSpPr>
        <p:spPr>
          <a:xfrm>
            <a:off x="986947" y="3566561"/>
            <a:ext cx="3632678" cy="109220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7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6946" y="545766"/>
            <a:ext cx="12801600" cy="1563201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0090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5" name="Marcador de texto 3"/>
          <p:cNvSpPr>
            <a:spLocks noGrp="1"/>
          </p:cNvSpPr>
          <p:nvPr>
            <p:ph type="body" sz="quarter" idx="19"/>
          </p:nvPr>
        </p:nvSpPr>
        <p:spPr>
          <a:xfrm>
            <a:off x="5010995" y="3566561"/>
            <a:ext cx="3609129" cy="109220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7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3" name="Marcador de texto 39"/>
          <p:cNvSpPr>
            <a:spLocks noGrp="1"/>
          </p:cNvSpPr>
          <p:nvPr>
            <p:ph type="body" sz="quarter" idx="14"/>
          </p:nvPr>
        </p:nvSpPr>
        <p:spPr>
          <a:xfrm>
            <a:off x="1074257" y="5255089"/>
            <a:ext cx="3632679" cy="141605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25" name="Marcador de texto 39"/>
          <p:cNvSpPr>
            <a:spLocks noGrp="1"/>
          </p:cNvSpPr>
          <p:nvPr>
            <p:ph type="body" sz="quarter" idx="16"/>
          </p:nvPr>
        </p:nvSpPr>
        <p:spPr>
          <a:xfrm>
            <a:off x="5001472" y="5255089"/>
            <a:ext cx="3619126" cy="141605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3" name="Marcador de texto 3"/>
          <p:cNvSpPr>
            <a:spLocks noGrp="1"/>
          </p:cNvSpPr>
          <p:nvPr>
            <p:ph type="body" sz="quarter" idx="20"/>
          </p:nvPr>
        </p:nvSpPr>
        <p:spPr>
          <a:xfrm>
            <a:off x="9011495" y="3566561"/>
            <a:ext cx="3609130" cy="109220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7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4" name="Marcador de texto 39"/>
          <p:cNvSpPr>
            <a:spLocks noGrp="1"/>
          </p:cNvSpPr>
          <p:nvPr>
            <p:ph type="body" sz="quarter" idx="21"/>
          </p:nvPr>
        </p:nvSpPr>
        <p:spPr>
          <a:xfrm>
            <a:off x="9001970" y="5225415"/>
            <a:ext cx="3619127" cy="141605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5" name="Marcador de texto 3"/>
          <p:cNvSpPr>
            <a:spLocks noGrp="1"/>
          </p:cNvSpPr>
          <p:nvPr>
            <p:ph type="body" sz="quarter" idx="22"/>
          </p:nvPr>
        </p:nvSpPr>
        <p:spPr>
          <a:xfrm>
            <a:off x="12943453" y="3554883"/>
            <a:ext cx="3677672" cy="109220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7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sp>
        <p:nvSpPr>
          <p:cNvPr id="46" name="Marcador de texto 39"/>
          <p:cNvSpPr>
            <a:spLocks noGrp="1"/>
          </p:cNvSpPr>
          <p:nvPr>
            <p:ph type="body" sz="quarter" idx="23"/>
          </p:nvPr>
        </p:nvSpPr>
        <p:spPr>
          <a:xfrm>
            <a:off x="12933928" y="5217640"/>
            <a:ext cx="3687859" cy="1416050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</p:txBody>
      </p:sp>
      <p:pic>
        <p:nvPicPr>
          <p:cNvPr id="34" name="Object 3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71575" y="4559720"/>
            <a:ext cx="3448050" cy="19050"/>
          </a:xfrm>
          <a:prstGeom prst="rect">
            <a:avLst/>
          </a:prstGeom>
        </p:spPr>
      </p:pic>
      <p:pic>
        <p:nvPicPr>
          <p:cNvPr id="36" name="Object 4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72575" y="4559720"/>
            <a:ext cx="3448050" cy="19050"/>
          </a:xfrm>
          <a:prstGeom prst="rect">
            <a:avLst/>
          </a:prstGeom>
        </p:spPr>
      </p:pic>
      <p:pic>
        <p:nvPicPr>
          <p:cNvPr id="37" name="Object 5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172075" y="4559720"/>
            <a:ext cx="3448050" cy="19050"/>
          </a:xfrm>
          <a:prstGeom prst="rect">
            <a:avLst/>
          </a:prstGeom>
        </p:spPr>
      </p:pic>
      <p:pic>
        <p:nvPicPr>
          <p:cNvPr id="38" name="Object 6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173075" y="4559720"/>
            <a:ext cx="3448050" cy="19050"/>
          </a:xfrm>
          <a:prstGeom prst="rect">
            <a:avLst/>
          </a:prstGeom>
        </p:spPr>
      </p:pic>
      <p:pic>
        <p:nvPicPr>
          <p:cNvPr id="39" name="Object 2" descr="preencoded.png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1575" y="3407195"/>
            <a:ext cx="15449550" cy="38100"/>
          </a:xfrm>
          <a:prstGeom prst="rect">
            <a:avLst/>
          </a:prstGeom>
        </p:spPr>
      </p:pic>
      <p:sp>
        <p:nvSpPr>
          <p:cNvPr id="20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3106400" y="9403780"/>
            <a:ext cx="4267200" cy="547688"/>
          </a:xfrm>
          <a:prstGeom prst="rect">
            <a:avLst/>
          </a:prstGeom>
        </p:spPr>
        <p:txBody>
          <a:bodyPr/>
          <a:lstStyle>
            <a:lvl1pPr algn="r">
              <a:defRPr sz="2400">
                <a:solidFill>
                  <a:srgbClr val="FFFFFF"/>
                </a:solidFill>
                <a:latin typeface="Montserrat Regular"/>
                <a:cs typeface="Montserrat Regular"/>
              </a:defRPr>
            </a:lvl1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77FF73-6402-E936-AD06-A7F3C021ED0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" y="6905124"/>
            <a:ext cx="2875158" cy="328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C570527-97E5-07BD-520E-A0C5F85CF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  <p:sp>
        <p:nvSpPr>
          <p:cNvPr id="20" name="Título 1"/>
          <p:cNvSpPr>
            <a:spLocks noGrp="1"/>
          </p:cNvSpPr>
          <p:nvPr>
            <p:ph type="ctrTitle"/>
          </p:nvPr>
        </p:nvSpPr>
        <p:spPr>
          <a:xfrm>
            <a:off x="776186" y="915451"/>
            <a:ext cx="11331882" cy="1879378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1965"/>
                </a:solidFill>
                <a:latin typeface="Montserrat Extra Bold"/>
                <a:cs typeface="Montserrat Extra Bold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6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3106400" y="9403780"/>
            <a:ext cx="4267200" cy="547688"/>
          </a:xfrm>
          <a:prstGeom prst="rect">
            <a:avLst/>
          </a:prstGeom>
        </p:spPr>
        <p:txBody>
          <a:bodyPr/>
          <a:lstStyle>
            <a:lvl1pPr algn="r">
              <a:defRPr sz="24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605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3106400" y="9403780"/>
            <a:ext cx="4267200" cy="547688"/>
          </a:xfrm>
          <a:prstGeom prst="rect">
            <a:avLst/>
          </a:prstGeom>
        </p:spPr>
        <p:txBody>
          <a:bodyPr/>
          <a:lstStyle>
            <a:lvl1pPr algn="r">
              <a:defRPr sz="2400">
                <a:solidFill>
                  <a:srgbClr val="001965"/>
                </a:solidFill>
                <a:latin typeface="Montserrat Regular"/>
                <a:cs typeface="Montserrat Regular"/>
              </a:defRPr>
            </a:lvl1pPr>
          </a:lstStyle>
          <a:p>
            <a:fld id="{D777D3D9-519F-8C46-812B-589694C95712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F1DCF46C-3144-D72C-0742-EC4A6FAEBF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79" y="2"/>
            <a:ext cx="2862790" cy="1030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163284" tIns="81642" rIns="163284" bIns="81642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4400" y="2400301"/>
            <a:ext cx="16459200" cy="6788945"/>
          </a:xfrm>
          <a:prstGeom prst="rect">
            <a:avLst/>
          </a:prstGeom>
        </p:spPr>
        <p:txBody>
          <a:bodyPr vert="horz" lIns="163284" tIns="81642" rIns="163284" bIns="81642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6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6" r:id="rId3"/>
    <p:sldLayoutId id="2147483687" r:id="rId4"/>
    <p:sldLayoutId id="2147483650" r:id="rId5"/>
    <p:sldLayoutId id="2147483652" r:id="rId6"/>
    <p:sldLayoutId id="2147483660" r:id="rId7"/>
    <p:sldLayoutId id="2147483674" r:id="rId8"/>
    <p:sldLayoutId id="2147483661" r:id="rId9"/>
    <p:sldLayoutId id="2147483654" r:id="rId10"/>
    <p:sldLayoutId id="2147483655" r:id="rId11"/>
    <p:sldLayoutId id="2147483676" r:id="rId12"/>
    <p:sldLayoutId id="2147483678" r:id="rId13"/>
    <p:sldLayoutId id="2147483677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75" r:id="rId2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ctr" defTabSz="816422" rtl="0" eaLnBrk="1" latinLnBrk="0" hangingPunct="1">
        <a:spcBef>
          <a:spcPct val="0"/>
        </a:spcBef>
        <a:buNone/>
        <a:defRPr sz="7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2317" indent="-612317" algn="l" defTabSz="816422" rtl="0" eaLnBrk="1" latinLnBrk="0" hangingPunct="1">
        <a:spcBef>
          <a:spcPct val="20000"/>
        </a:spcBef>
        <a:buFont typeface="Arial"/>
        <a:buChar char="•"/>
        <a:defRPr sz="5700" kern="1200">
          <a:solidFill>
            <a:schemeClr val="tx1"/>
          </a:solidFill>
          <a:latin typeface="+mn-lt"/>
          <a:ea typeface="+mn-ea"/>
          <a:cs typeface="+mn-cs"/>
        </a:defRPr>
      </a:lvl1pPr>
      <a:lvl2pPr marL="1326686" indent="-510264" algn="l" defTabSz="816422" rtl="0" eaLnBrk="1" latinLnBrk="0" hangingPunct="1">
        <a:spcBef>
          <a:spcPct val="20000"/>
        </a:spcBef>
        <a:buFont typeface="Arial"/>
        <a:buChar char="–"/>
        <a:defRPr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1055" indent="-408211" algn="l" defTabSz="816422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477" indent="-408211" algn="l" defTabSz="816422" rtl="0" eaLnBrk="1" latinLnBrk="0" hangingPunct="1">
        <a:spcBef>
          <a:spcPct val="20000"/>
        </a:spcBef>
        <a:buFont typeface="Arial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899" indent="-408211" algn="l" defTabSz="816422" rtl="0" eaLnBrk="1" latinLnBrk="0" hangingPunct="1">
        <a:spcBef>
          <a:spcPct val="20000"/>
        </a:spcBef>
        <a:buFont typeface="Arial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321" indent="-408211" algn="l" defTabSz="816422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743" indent="-408211" algn="l" defTabSz="816422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3165" indent="-408211" algn="l" defTabSz="816422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587" indent="-408211" algn="l" defTabSz="816422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defTabSz="81642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mailto:daelee@faculty.ie.edu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01991" y="2269610"/>
            <a:ext cx="9825588" cy="2043113"/>
          </a:xfrm>
        </p:spPr>
        <p:txBody>
          <a:bodyPr>
            <a:normAutofit fontScale="90000"/>
          </a:bodyPr>
          <a:lstStyle/>
          <a:p>
            <a:pPr algn="ctr">
              <a:lnSpc>
                <a:spcPts val="6663"/>
              </a:lnSpc>
            </a:pPr>
            <a:r>
              <a:rPr lang="en-US" sz="6000" dirty="0"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MBDS Capstone Project: </a:t>
            </a:r>
            <a:br>
              <a:rPr lang="en-US" sz="6000" dirty="0"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</a:br>
            <a:r>
              <a:rPr lang="en-US" sz="6000" dirty="0"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Kick-Off, Sep 25 Intake</a:t>
            </a:r>
            <a:br>
              <a:rPr lang="en-US" sz="6000" dirty="0"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</a:br>
            <a:endParaRPr lang="en-US" sz="600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478454" y="5974277"/>
            <a:ext cx="8685949" cy="1239810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Dae-Jin Lee, PhD.</a:t>
            </a:r>
          </a:p>
          <a:p>
            <a:r>
              <a:rPr lang="es-ES" dirty="0"/>
              <a:t>E-mail: </a:t>
            </a:r>
            <a:r>
              <a:rPr lang="es-ES" u="sng" dirty="0">
                <a:hlinkClick r:id="rId2"/>
              </a:rPr>
              <a:t>daelee@faculty.ie.edu</a:t>
            </a:r>
            <a:r>
              <a:rPr lang="es-ES" u="sng" dirty="0"/>
              <a:t> </a:t>
            </a:r>
          </a:p>
        </p:txBody>
      </p:sp>
      <p:pic>
        <p:nvPicPr>
          <p:cNvPr id="6" name="Marcador de posición de imagen 5" descr="IML_8757 copia.png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50094" y="0"/>
            <a:ext cx="4554538" cy="10287000"/>
          </a:xfrm>
        </p:spPr>
      </p:pic>
    </p:spTree>
    <p:extLst>
      <p:ext uri="{BB962C8B-B14F-4D97-AF65-F5344CB8AC3E}">
        <p14:creationId xmlns:p14="http://schemas.microsoft.com/office/powerpoint/2010/main" val="8807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Person stepping in stairs">
            <a:extLst>
              <a:ext uri="{FF2B5EF4-FFF2-40B4-BE49-F238E27FC236}">
                <a16:creationId xmlns:a16="http://schemas.microsoft.com/office/drawing/2014/main" id="{EA488618-2A06-1F10-49D9-2ED2072D1F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5151" r="35151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6E1C2F-10BE-3597-B167-75EED635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931" y="2825805"/>
            <a:ext cx="9105262" cy="1714500"/>
          </a:xfrm>
        </p:spPr>
        <p:txBody>
          <a:bodyPr>
            <a:normAutofit fontScale="90000"/>
          </a:bodyPr>
          <a:lstStyle/>
          <a:p>
            <a:r>
              <a:rPr lang="en-ES" sz="4400" b="1" dirty="0"/>
              <a:t>Why is the capstone project </a:t>
            </a:r>
            <a:r>
              <a:rPr lang="es-ES" sz="4400" b="1" dirty="0"/>
              <a:t>one of </a:t>
            </a:r>
            <a:r>
              <a:rPr lang="en-ES" sz="4400" b="1" dirty="0"/>
              <a:t>the most important part</a:t>
            </a:r>
            <a:r>
              <a:rPr lang="es-ES" sz="4400" b="1" dirty="0"/>
              <a:t>s</a:t>
            </a:r>
            <a:r>
              <a:rPr lang="en-ES" sz="4400" b="1" dirty="0"/>
              <a:t> of your journey?</a:t>
            </a:r>
          </a:p>
        </p:txBody>
      </p:sp>
    </p:spTree>
    <p:extLst>
      <p:ext uri="{BB962C8B-B14F-4D97-AF65-F5344CB8AC3E}">
        <p14:creationId xmlns:p14="http://schemas.microsoft.com/office/powerpoint/2010/main" val="165728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B37C6E-50F7-527A-D120-19EDF5D1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021" y="422617"/>
            <a:ext cx="12801600" cy="1563201"/>
          </a:xfrm>
        </p:spPr>
        <p:txBody>
          <a:bodyPr/>
          <a:lstStyle/>
          <a:p>
            <a:r>
              <a:rPr lang="en-ES" dirty="0"/>
              <a:t>Key 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61C99-6AAA-23FC-6DBF-6079CA3E53D2}"/>
              </a:ext>
            </a:extLst>
          </p:cNvPr>
          <p:cNvSpPr txBox="1"/>
          <p:nvPr/>
        </p:nvSpPr>
        <p:spPr>
          <a:xfrm>
            <a:off x="3538558" y="2000946"/>
            <a:ext cx="13386525" cy="8263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Integration of Knowledge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Uses all the skills and tools learned in the program.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Real-World Problem Solving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Solves real business challenges using advanced data analytics.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Teamwork Skills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Builds collaboration and group dynamics.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Industry Experience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Work directly with companies and learn from them.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Career Boost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Impress employers.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Innovation and Impact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Create solutions that make a difference.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ES" sz="3600" dirty="0"/>
          </a:p>
        </p:txBody>
      </p:sp>
    </p:spTree>
    <p:extLst>
      <p:ext uri="{BB962C8B-B14F-4D97-AF65-F5344CB8AC3E}">
        <p14:creationId xmlns:p14="http://schemas.microsoft.com/office/powerpoint/2010/main" val="137993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ts val="6663"/>
              </a:lnSpc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Projects</a:t>
            </a:r>
            <a:endParaRPr lang="en-US" sz="7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Which options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140359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706B9-AE1C-1C67-7211-E1704A38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87A1AC-D124-F93E-379A-0089D982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021" y="422617"/>
            <a:ext cx="12801600" cy="1563201"/>
          </a:xfrm>
        </p:spPr>
        <p:txBody>
          <a:bodyPr/>
          <a:lstStyle/>
          <a:p>
            <a:r>
              <a:rPr lang="en-ES" dirty="0"/>
              <a:t>Corporate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CE550-594E-4F5B-D541-B1C51CE817B9}"/>
              </a:ext>
            </a:extLst>
          </p:cNvPr>
          <p:cNvSpPr txBox="1"/>
          <p:nvPr/>
        </p:nvSpPr>
        <p:spPr>
          <a:xfrm>
            <a:off x="3538558" y="2000946"/>
            <a:ext cx="1338652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Objective</a:t>
            </a:r>
            <a:r>
              <a:rPr lang="en-GB" dirty="0"/>
              <a:t>: Address real-world business challenges presented by partner companies.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Process</a:t>
            </a:r>
            <a:r>
              <a:rPr lang="en-GB" dirty="0"/>
              <a:t>: 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Define a business problem and propose a data-driven solution.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Use suitable data science /ML/AI models and methodologies.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Present findings and solutions with clarity and creativity.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Structure</a:t>
            </a:r>
            <a:r>
              <a:rPr lang="en-GB" dirty="0"/>
              <a:t>: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Work in groups of five.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Receive mentorship from an academic tutor and a company mentor.</a:t>
            </a:r>
          </a:p>
          <a:p>
            <a:pPr marL="1273622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Deliverables include an executive summary, written report, a poster and a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57705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9D82F-19A0-D945-346D-D1EFF17E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4E24C-348E-8D6D-1F3B-15B2CFF61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ts val="6663"/>
              </a:lnSpc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Timelines</a:t>
            </a:r>
            <a:endParaRPr lang="en-US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D013D0-0968-219C-ABBD-F098C35D2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When will things happen?</a:t>
            </a:r>
          </a:p>
        </p:txBody>
      </p:sp>
    </p:spTree>
    <p:extLst>
      <p:ext uri="{BB962C8B-B14F-4D97-AF65-F5344CB8AC3E}">
        <p14:creationId xmlns:p14="http://schemas.microsoft.com/office/powerpoint/2010/main" val="227109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2025" y="4934805"/>
            <a:ext cx="4238625" cy="499910"/>
          </a:xfrm>
        </p:spPr>
        <p:txBody>
          <a:bodyPr>
            <a:noAutofit/>
          </a:bodyPr>
          <a:lstStyle/>
          <a:p>
            <a:r>
              <a:rPr lang="es-ES" sz="2800" dirty="0"/>
              <a:t>April 13 2026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/>
          </p:nvPr>
        </p:nvSpPr>
        <p:spPr>
          <a:xfrm>
            <a:off x="542040" y="5663064"/>
            <a:ext cx="2867025" cy="1416050"/>
          </a:xfrm>
        </p:spPr>
        <p:txBody>
          <a:bodyPr/>
          <a:lstStyle/>
          <a:p>
            <a:r>
              <a:rPr lang="en-US" sz="2200" dirty="0"/>
              <a:t>Kick-Off Presentation</a:t>
            </a: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3460233" y="4932739"/>
            <a:ext cx="3172817" cy="514587"/>
          </a:xfrm>
          <a:prstGeom prst="rect">
            <a:avLst/>
          </a:prstGeom>
        </p:spPr>
        <p:txBody>
          <a:bodyPr vert="horz" lIns="163284" tIns="81642" rIns="163284" bIns="81642" rtlCol="0" anchor="ctr">
            <a:noAutofit/>
          </a:bodyPr>
          <a:lstStyle>
            <a:lvl1pPr algn="l" defTabSz="816422" rtl="0" eaLnBrk="1" latinLnBrk="0" hangingPunct="1">
              <a:spcBef>
                <a:spcPct val="0"/>
              </a:spcBef>
              <a:buNone/>
              <a:defRPr sz="2700" kern="1200">
                <a:solidFill>
                  <a:srgbClr val="001965"/>
                </a:solidFill>
                <a:latin typeface="Montserrat Extra Bold"/>
                <a:ea typeface="+mj-ea"/>
                <a:cs typeface="Montserrat Extra Bold"/>
              </a:defRPr>
            </a:lvl1pPr>
          </a:lstStyle>
          <a:p>
            <a:r>
              <a:rPr lang="es-ES" sz="2800" dirty="0"/>
              <a:t>April 14 2026</a:t>
            </a: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3"/>
          </p:nvPr>
        </p:nvSpPr>
        <p:spPr>
          <a:xfrm>
            <a:off x="3443951" y="5622631"/>
            <a:ext cx="3736896" cy="2093622"/>
          </a:xfrm>
        </p:spPr>
        <p:txBody>
          <a:bodyPr/>
          <a:lstStyle/>
          <a:p>
            <a:r>
              <a:rPr lang="en-US" sz="2200" dirty="0"/>
              <a:t>-Companies Presentations</a:t>
            </a:r>
          </a:p>
          <a:p>
            <a:r>
              <a:rPr lang="en-US" sz="2200" dirty="0"/>
              <a:t>-Submission of Preferences  </a:t>
            </a:r>
          </a:p>
          <a:p>
            <a:r>
              <a:rPr lang="en-US" sz="2200" dirty="0"/>
              <a:t>-Groups Created</a:t>
            </a:r>
          </a:p>
          <a:p>
            <a:r>
              <a:rPr lang="en-US" sz="2200" dirty="0"/>
              <a:t>-Academic Tutor Assigned</a:t>
            </a: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6998083" y="4935860"/>
            <a:ext cx="4238625" cy="499910"/>
          </a:xfrm>
          <a:prstGeom prst="rect">
            <a:avLst/>
          </a:prstGeom>
        </p:spPr>
        <p:txBody>
          <a:bodyPr vert="horz" lIns="163284" tIns="81642" rIns="163284" bIns="81642" rtlCol="0" anchor="ctr">
            <a:noAutofit/>
          </a:bodyPr>
          <a:lstStyle>
            <a:lvl1pPr algn="l" defTabSz="816422" rtl="0" eaLnBrk="1" latinLnBrk="0" hangingPunct="1">
              <a:spcBef>
                <a:spcPct val="0"/>
              </a:spcBef>
              <a:buNone/>
              <a:defRPr sz="2700" kern="1200">
                <a:solidFill>
                  <a:srgbClr val="001965"/>
                </a:solidFill>
                <a:latin typeface="Montserrat Extra Bold"/>
                <a:ea typeface="+mj-ea"/>
                <a:cs typeface="Montserrat Extra Bold"/>
              </a:defRPr>
            </a:lvl1pPr>
          </a:lstStyle>
          <a:p>
            <a:r>
              <a:rPr lang="es-ES" sz="2800" dirty="0"/>
              <a:t>May 2026</a:t>
            </a:r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3"/>
          </p:nvPr>
        </p:nvSpPr>
        <p:spPr>
          <a:xfrm>
            <a:off x="6981802" y="5625751"/>
            <a:ext cx="3123722" cy="1416050"/>
          </a:xfrm>
        </p:spPr>
        <p:txBody>
          <a:bodyPr/>
          <a:lstStyle/>
          <a:p>
            <a:r>
              <a:rPr lang="en-US" sz="2200" dirty="0"/>
              <a:t>-Starting the Capstone</a:t>
            </a:r>
          </a:p>
          <a:p>
            <a:r>
              <a:rPr lang="en-US" sz="2200" dirty="0"/>
              <a:t>-8 weekly Meetings with the Tutors</a:t>
            </a:r>
          </a:p>
        </p:txBody>
      </p:sp>
      <p:pic>
        <p:nvPicPr>
          <p:cNvPr id="20" name="Object 6" descr="Objec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3789982"/>
            <a:ext cx="15449550" cy="38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Object 7" descr="Objec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3689969"/>
            <a:ext cx="285750" cy="28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Object 8" descr="Object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74" y="3681949"/>
            <a:ext cx="285750" cy="28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Object 9" descr="Object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68389" y="3689969"/>
            <a:ext cx="277730" cy="2777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Object 10" descr="Object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1478" y="3556619"/>
            <a:ext cx="438150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ítulo 4">
            <a:extLst>
              <a:ext uri="{FF2B5EF4-FFF2-40B4-BE49-F238E27FC236}">
                <a16:creationId xmlns:a16="http://schemas.microsoft.com/office/drawing/2014/main" id="{CCF7195B-D550-81EA-6CB9-F344BB212183}"/>
              </a:ext>
            </a:extLst>
          </p:cNvPr>
          <p:cNvSpPr txBox="1">
            <a:spLocks/>
          </p:cNvSpPr>
          <p:nvPr/>
        </p:nvSpPr>
        <p:spPr>
          <a:xfrm>
            <a:off x="770020" y="224589"/>
            <a:ext cx="11331882" cy="1170023"/>
          </a:xfrm>
          <a:prstGeom prst="rect">
            <a:avLst/>
          </a:prstGeom>
        </p:spPr>
        <p:txBody>
          <a:bodyPr vert="horz" lIns="163284" tIns="81642" rIns="163284" bIns="81642" rtlCol="0" anchor="ctr">
            <a:normAutofit/>
          </a:bodyPr>
          <a:lstStyle>
            <a:lvl1pPr algn="l" defTabSz="816422" rtl="0" eaLnBrk="1" latinLnBrk="0" hangingPunct="1">
              <a:spcBef>
                <a:spcPct val="0"/>
              </a:spcBef>
              <a:buNone/>
              <a:defRPr sz="2700" kern="1200">
                <a:solidFill>
                  <a:srgbClr val="001965"/>
                </a:solidFill>
                <a:latin typeface="Montserrat Extra Bold"/>
                <a:ea typeface="+mj-ea"/>
                <a:cs typeface="Montserrat Extra Bold"/>
              </a:defRPr>
            </a:lvl1pPr>
          </a:lstStyle>
          <a:p>
            <a:r>
              <a:rPr lang="en-US" sz="6000" b="1" dirty="0"/>
              <a:t>Timelines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49754F7-EC0E-7658-3E67-DCA07B22BCD1}"/>
              </a:ext>
            </a:extLst>
          </p:cNvPr>
          <p:cNvSpPr txBox="1">
            <a:spLocks/>
          </p:cNvSpPr>
          <p:nvPr/>
        </p:nvSpPr>
        <p:spPr>
          <a:xfrm>
            <a:off x="11167352" y="4952834"/>
            <a:ext cx="3172817" cy="479816"/>
          </a:xfrm>
          <a:prstGeom prst="rect">
            <a:avLst/>
          </a:prstGeom>
        </p:spPr>
        <p:txBody>
          <a:bodyPr vert="horz" lIns="163284" tIns="81642" rIns="163284" bIns="81642" rtlCol="0" anchor="ctr">
            <a:noAutofit/>
          </a:bodyPr>
          <a:lstStyle>
            <a:lvl1pPr algn="l" defTabSz="816422" rtl="0" eaLnBrk="1" latinLnBrk="0" hangingPunct="1">
              <a:spcBef>
                <a:spcPct val="0"/>
              </a:spcBef>
              <a:buNone/>
              <a:defRPr sz="2700" kern="1200">
                <a:solidFill>
                  <a:srgbClr val="001965"/>
                </a:solidFill>
                <a:latin typeface="Montserrat Extra Bold"/>
                <a:ea typeface="+mj-ea"/>
                <a:cs typeface="Montserrat Extra Bold"/>
              </a:defRPr>
            </a:lvl1pPr>
          </a:lstStyle>
          <a:p>
            <a:r>
              <a:rPr lang="es-ES" sz="2800" dirty="0"/>
              <a:t>June 29 2026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F6FB4C5D-8A22-00E2-3548-A9DF2D6A6841}"/>
              </a:ext>
            </a:extLst>
          </p:cNvPr>
          <p:cNvSpPr txBox="1">
            <a:spLocks/>
          </p:cNvSpPr>
          <p:nvPr/>
        </p:nvSpPr>
        <p:spPr>
          <a:xfrm>
            <a:off x="11167352" y="5720214"/>
            <a:ext cx="3248485" cy="1416050"/>
          </a:xfrm>
          <a:prstGeom prst="rect">
            <a:avLst/>
          </a:prstGeom>
        </p:spPr>
        <p:txBody>
          <a:bodyPr vert="horz" lIns="163284" tIns="81642" rIns="163284" bIns="81642" rtlCol="0">
            <a:noAutofit/>
          </a:bodyPr>
          <a:lstStyle>
            <a:lvl1pPr marL="0" indent="0" algn="l" defTabSz="816422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rgbClr val="001965"/>
                </a:solidFill>
                <a:latin typeface="Montserrat Regular"/>
                <a:ea typeface="+mn-ea"/>
                <a:cs typeface="Montserrat Regular"/>
              </a:defRPr>
            </a:lvl1pPr>
            <a:lvl2pPr marL="1326686" indent="-510264" algn="l" defTabSz="81642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1055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477" indent="-408211" algn="l" defTabSz="81642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3899" indent="-408211" algn="l" defTabSz="81642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90321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06743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3165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939587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Submission</a:t>
            </a:r>
          </a:p>
        </p:txBody>
      </p:sp>
      <p:pic>
        <p:nvPicPr>
          <p:cNvPr id="8" name="Object 9" descr="Object 9">
            <a:extLst>
              <a:ext uri="{FF2B5EF4-FFF2-40B4-BE49-F238E27FC236}">
                <a16:creationId xmlns:a16="http://schemas.microsoft.com/office/drawing/2014/main" id="{5F6AEF71-CE52-C92B-B428-FE7A0025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3677" y="3685208"/>
            <a:ext cx="28575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683C9028-914D-F9BC-DAB6-451951BDC726}"/>
              </a:ext>
            </a:extLst>
          </p:cNvPr>
          <p:cNvSpPr txBox="1">
            <a:spLocks/>
          </p:cNvSpPr>
          <p:nvPr/>
        </p:nvSpPr>
        <p:spPr>
          <a:xfrm>
            <a:off x="14610140" y="4932739"/>
            <a:ext cx="3172817" cy="479816"/>
          </a:xfrm>
          <a:prstGeom prst="rect">
            <a:avLst/>
          </a:prstGeom>
        </p:spPr>
        <p:txBody>
          <a:bodyPr vert="horz" lIns="163284" tIns="81642" rIns="163284" bIns="81642" rtlCol="0" anchor="ctr">
            <a:noAutofit/>
          </a:bodyPr>
          <a:lstStyle>
            <a:lvl1pPr algn="l" defTabSz="816422" rtl="0" eaLnBrk="1" latinLnBrk="0" hangingPunct="1">
              <a:spcBef>
                <a:spcPct val="0"/>
              </a:spcBef>
              <a:buNone/>
              <a:defRPr sz="2700" kern="1200">
                <a:solidFill>
                  <a:srgbClr val="001965"/>
                </a:solidFill>
                <a:latin typeface="Montserrat Extra Bold"/>
                <a:ea typeface="+mj-ea"/>
                <a:cs typeface="Montserrat Extra Bold"/>
              </a:defRPr>
            </a:lvl1pPr>
          </a:lstStyle>
          <a:p>
            <a:r>
              <a:rPr lang="es-ES" sz="2800" dirty="0" err="1"/>
              <a:t>July</a:t>
            </a:r>
            <a:r>
              <a:rPr lang="es-ES" sz="2800" dirty="0"/>
              <a:t> 7 2026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E71E0FBB-025B-BB39-7B02-4028E9D42F2A}"/>
              </a:ext>
            </a:extLst>
          </p:cNvPr>
          <p:cNvSpPr txBox="1">
            <a:spLocks/>
          </p:cNvSpPr>
          <p:nvPr/>
        </p:nvSpPr>
        <p:spPr>
          <a:xfrm>
            <a:off x="14596352" y="5720214"/>
            <a:ext cx="3248485" cy="1416050"/>
          </a:xfrm>
          <a:prstGeom prst="rect">
            <a:avLst/>
          </a:prstGeom>
        </p:spPr>
        <p:txBody>
          <a:bodyPr vert="horz" lIns="163284" tIns="81642" rIns="163284" bIns="81642" rtlCol="0">
            <a:noAutofit/>
          </a:bodyPr>
          <a:lstStyle>
            <a:lvl1pPr marL="0" indent="0" algn="l" defTabSz="816422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rgbClr val="001965"/>
                </a:solidFill>
                <a:latin typeface="Montserrat Regular"/>
                <a:ea typeface="+mn-ea"/>
                <a:cs typeface="Montserrat Regular"/>
              </a:defRPr>
            </a:lvl1pPr>
            <a:lvl2pPr marL="1326686" indent="-510264" algn="l" defTabSz="81642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1055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477" indent="-408211" algn="l" defTabSz="816422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3899" indent="-408211" algn="l" defTabSz="816422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90321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06743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3165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939587" indent="-408211" algn="l" defTabSz="816422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Panel Presentation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07AECEA-836B-201D-65C9-E8E55AC408DF}"/>
              </a:ext>
            </a:extLst>
          </p:cNvPr>
          <p:cNvCxnSpPr/>
          <p:nvPr/>
        </p:nvCxnSpPr>
        <p:spPr>
          <a:xfrm>
            <a:off x="11274153" y="5523532"/>
            <a:ext cx="22247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663B2B-C8AA-48CA-FB72-DD0D0A01792A}"/>
              </a:ext>
            </a:extLst>
          </p:cNvPr>
          <p:cNvCxnSpPr>
            <a:cxnSpLocks/>
          </p:cNvCxnSpPr>
          <p:nvPr/>
        </p:nvCxnSpPr>
        <p:spPr>
          <a:xfrm>
            <a:off x="14672020" y="5523532"/>
            <a:ext cx="27968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5FD544B-D7C5-CF1B-3085-ACAA8EE0E279}"/>
              </a:ext>
            </a:extLst>
          </p:cNvPr>
          <p:cNvCxnSpPr>
            <a:cxnSpLocks/>
          </p:cNvCxnSpPr>
          <p:nvPr/>
        </p:nvCxnSpPr>
        <p:spPr>
          <a:xfrm>
            <a:off x="6971297" y="5523532"/>
            <a:ext cx="31342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CA8F36-7E5A-4FA0-FE35-4EDA7EAF82ED}"/>
              </a:ext>
            </a:extLst>
          </p:cNvPr>
          <p:cNvCxnSpPr>
            <a:cxnSpLocks/>
          </p:cNvCxnSpPr>
          <p:nvPr/>
        </p:nvCxnSpPr>
        <p:spPr>
          <a:xfrm flipV="1">
            <a:off x="3430113" y="5523532"/>
            <a:ext cx="2932587" cy="28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8BD06B-83DC-BBF8-5106-9E6A2D08CDF1}"/>
              </a:ext>
            </a:extLst>
          </p:cNvPr>
          <p:cNvCxnSpPr>
            <a:cxnSpLocks/>
          </p:cNvCxnSpPr>
          <p:nvPr/>
        </p:nvCxnSpPr>
        <p:spPr>
          <a:xfrm>
            <a:off x="592576" y="5560664"/>
            <a:ext cx="22649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04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ts val="6663"/>
              </a:lnSpc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Course Objectives</a:t>
            </a:r>
            <a:endParaRPr lang="en-US" sz="7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should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do?</a:t>
            </a:r>
          </a:p>
        </p:txBody>
      </p:sp>
    </p:spTree>
    <p:extLst>
      <p:ext uri="{BB962C8B-B14F-4D97-AF65-F5344CB8AC3E}">
        <p14:creationId xmlns:p14="http://schemas.microsoft.com/office/powerpoint/2010/main" val="301927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190EAE5-DCAA-4713-A6B6-7CA5D70E7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9326" y="42020"/>
            <a:ext cx="11331882" cy="117002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92D050"/>
                </a:solidFill>
              </a:rPr>
              <a:t>Course Objectives</a:t>
            </a:r>
          </a:p>
        </p:txBody>
      </p:sp>
      <p:pic>
        <p:nvPicPr>
          <p:cNvPr id="6" name="Marcador de posición de imagen 5" descr="ie_tower_1.png">
            <a:extLst>
              <a:ext uri="{FF2B5EF4-FFF2-40B4-BE49-F238E27FC236}">
                <a16:creationId xmlns:a16="http://schemas.microsoft.com/office/drawing/2014/main" id="{8F095241-E11A-44FA-FC6B-8B71812084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143500" cy="10287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4D526F7-D2F0-FF73-3014-13B55EA60CFF}"/>
              </a:ext>
            </a:extLst>
          </p:cNvPr>
          <p:cNvSpPr txBox="1"/>
          <p:nvPr/>
        </p:nvSpPr>
        <p:spPr>
          <a:xfrm>
            <a:off x="5839326" y="1944865"/>
            <a:ext cx="11967411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D</a:t>
            </a:r>
            <a:r>
              <a:rPr lang="en-US" sz="2400" dirty="0">
                <a:effectLst/>
                <a:latin typeface="Montserrat" pitchFamily="2" charset="77"/>
              </a:rPr>
              <a:t>emonstrate their proficiency in tackling real-world business challenges through data-driven analytics</a:t>
            </a:r>
            <a:r>
              <a:rPr lang="en-US" sz="2400" dirty="0">
                <a:latin typeface="Montserrat" pitchFamily="2" charset="77"/>
              </a:rPr>
              <a:t>.</a:t>
            </a:r>
          </a:p>
          <a:p>
            <a:endParaRPr lang="en-US" sz="2400" dirty="0">
              <a:effectLst/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effectLst/>
                <a:latin typeface="Montserrat" pitchFamily="2" charset="77"/>
              </a:rPr>
              <a:t>Precisely </a:t>
            </a:r>
            <a:r>
              <a:rPr lang="en-US" sz="2400" b="1" dirty="0">
                <a:effectLst/>
                <a:latin typeface="Montserrat" pitchFamily="2" charset="77"/>
              </a:rPr>
              <a:t>identifying </a:t>
            </a:r>
            <a:r>
              <a:rPr lang="en-US" sz="2400" dirty="0">
                <a:effectLst/>
                <a:latin typeface="Montserrat" pitchFamily="2" charset="77"/>
              </a:rPr>
              <a:t>and </a:t>
            </a:r>
            <a:r>
              <a:rPr lang="en-US" sz="2400" b="1" dirty="0">
                <a:effectLst/>
                <a:latin typeface="Montserrat" pitchFamily="2" charset="77"/>
              </a:rPr>
              <a:t>analyzing </a:t>
            </a:r>
            <a:r>
              <a:rPr lang="en-US" sz="2400" dirty="0">
                <a:effectLst/>
                <a:latin typeface="Montserrat" pitchFamily="2" charset="77"/>
              </a:rPr>
              <a:t>the business challenge or problem, followed by proposing a solution grounded in data analytics./ML/AI </a:t>
            </a:r>
          </a:p>
          <a:p>
            <a:endParaRPr lang="en-US" sz="2400" dirty="0"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b="1" dirty="0">
                <a:effectLst/>
                <a:latin typeface="Montserrat" pitchFamily="2" charset="77"/>
              </a:rPr>
              <a:t>Choosing </a:t>
            </a:r>
            <a:r>
              <a:rPr lang="en-US" sz="2400" dirty="0">
                <a:effectLst/>
                <a:latin typeface="Montserrat" pitchFamily="2" charset="77"/>
              </a:rPr>
              <a:t>the most suitable data science model ML/AI algorithms and methodology to effectively address the problem while considering the trade-offs among various solutions.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2400" b="1" dirty="0">
              <a:effectLst/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b="1" dirty="0">
                <a:effectLst/>
                <a:latin typeface="Montserrat" pitchFamily="2" charset="77"/>
              </a:rPr>
              <a:t>Creating </a:t>
            </a:r>
            <a:r>
              <a:rPr lang="en-US" sz="2400" dirty="0">
                <a:effectLst/>
                <a:latin typeface="Montserrat" pitchFamily="2" charset="77"/>
              </a:rPr>
              <a:t>a sustainable architecture that supports the selected model.</a:t>
            </a:r>
            <a:endParaRPr lang="en-US" sz="2400" dirty="0"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effectLst/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b="1" dirty="0">
                <a:effectLst/>
                <a:latin typeface="Montserrat" pitchFamily="2" charset="77"/>
              </a:rPr>
              <a:t>Developing </a:t>
            </a:r>
            <a:r>
              <a:rPr lang="en-US" sz="2400" dirty="0">
                <a:effectLst/>
                <a:latin typeface="Montserrat" pitchFamily="2" charset="77"/>
              </a:rPr>
              <a:t>a proof of concept utilizing real-world data and employing the tools and techniques </a:t>
            </a:r>
            <a:r>
              <a:rPr lang="en-US" sz="2400" dirty="0">
                <a:latin typeface="Montserrat" pitchFamily="2" charset="77"/>
              </a:rPr>
              <a:t> l</a:t>
            </a:r>
            <a:r>
              <a:rPr lang="en-US" sz="2400" dirty="0">
                <a:effectLst/>
                <a:latin typeface="Montserrat" pitchFamily="2" charset="77"/>
              </a:rPr>
              <a:t>earned throughout the program.</a:t>
            </a:r>
            <a:endParaRPr lang="en-US" sz="2400" dirty="0"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endParaRPr lang="en-US" sz="2400" dirty="0">
              <a:effectLst/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dirty="0">
                <a:effectLst/>
                <a:latin typeface="Montserrat" pitchFamily="2" charset="77"/>
              </a:rPr>
              <a:t>Effectively </a:t>
            </a:r>
            <a:r>
              <a:rPr lang="en-US" sz="2400" b="1" dirty="0">
                <a:effectLst/>
                <a:latin typeface="Montserrat" pitchFamily="2" charset="77"/>
              </a:rPr>
              <a:t>presenting </a:t>
            </a:r>
            <a:r>
              <a:rPr lang="en-US" sz="2400" dirty="0">
                <a:effectLst/>
                <a:latin typeface="Montserrat" pitchFamily="2" charset="77"/>
              </a:rPr>
              <a:t>their proposal and findings to a panel with clarity and precision.</a:t>
            </a:r>
          </a:p>
          <a:p>
            <a:endParaRPr lang="en-US" sz="2400" dirty="0">
              <a:effectLst/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b="1" dirty="0">
                <a:effectLst/>
                <a:latin typeface="Montserrat" pitchFamily="2" charset="77"/>
              </a:rPr>
              <a:t>Acknowledging </a:t>
            </a:r>
            <a:r>
              <a:rPr lang="en-US" sz="2400" dirty="0">
                <a:effectLst/>
                <a:latin typeface="Montserrat" pitchFamily="2" charset="77"/>
              </a:rPr>
              <a:t>and </a:t>
            </a:r>
            <a:r>
              <a:rPr lang="en-US" sz="2400" b="1" dirty="0">
                <a:effectLst/>
                <a:latin typeface="Montserrat" pitchFamily="2" charset="77"/>
              </a:rPr>
              <a:t>addressing </a:t>
            </a:r>
            <a:r>
              <a:rPr lang="en-US" sz="2400" dirty="0">
                <a:effectLst/>
                <a:latin typeface="Montserrat" pitchFamily="2" charset="77"/>
              </a:rPr>
              <a:t>any ethical or legal implications associated with their proposed solution. </a:t>
            </a:r>
            <a:endParaRPr lang="en-US" sz="2400" dirty="0">
              <a:latin typeface="Montserrat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46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ts val="6663"/>
              </a:lnSpc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Course Methodology</a:t>
            </a:r>
            <a:endParaRPr lang="en-US" sz="7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are we going to organize?</a:t>
            </a:r>
          </a:p>
        </p:txBody>
      </p:sp>
    </p:spTree>
    <p:extLst>
      <p:ext uri="{BB962C8B-B14F-4D97-AF65-F5344CB8AC3E}">
        <p14:creationId xmlns:p14="http://schemas.microsoft.com/office/powerpoint/2010/main" val="196898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190EAE5-DCAA-4713-A6B6-7CA5D70E7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9326" y="42020"/>
            <a:ext cx="11331882" cy="117002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92D050"/>
                </a:solidFill>
              </a:rPr>
              <a:t>Course Methodology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D526F7-D2F0-FF73-3014-13B55EA60CFF}"/>
              </a:ext>
            </a:extLst>
          </p:cNvPr>
          <p:cNvSpPr txBox="1"/>
          <p:nvPr/>
        </p:nvSpPr>
        <p:spPr>
          <a:xfrm>
            <a:off x="5133475" y="1575896"/>
            <a:ext cx="1254492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latin typeface="Montserrat" pitchFamily="2" charset="77"/>
              </a:rPr>
              <a:t>Integrated Instruction</a:t>
            </a:r>
            <a:r>
              <a:rPr lang="en-US" sz="2400" dirty="0">
                <a:latin typeface="Montserrat" pitchFamily="2" charset="77"/>
              </a:rPr>
              <a:t>: The curriculum includes a blend of Masterclasses and team-based project work, supplemented by dedicated mentoring sessions.</a:t>
            </a:r>
          </a:p>
          <a:p>
            <a:pPr marL="342900" indent="-342900" algn="l">
              <a:buFont typeface="Wingdings" pitchFamily="2" charset="2"/>
              <a:buChar char="q"/>
            </a:pPr>
            <a:endParaRPr lang="en-US" sz="2400" dirty="0">
              <a:latin typeface="Montserrat" pitchFamily="2" charset="77"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latin typeface="Montserrat" pitchFamily="2" charset="77"/>
              </a:rPr>
              <a:t>Supportive Academic Tutoring</a:t>
            </a:r>
            <a:r>
              <a:rPr lang="en-US" sz="2400" dirty="0">
                <a:latin typeface="Montserrat" pitchFamily="2" charset="77"/>
              </a:rPr>
              <a:t>: 8 weekly sessions are structured to offer substantial support and insight, aiding students in advancing their project development.</a:t>
            </a:r>
          </a:p>
          <a:p>
            <a:pPr marL="342900" indent="-342900" algn="l">
              <a:buFont typeface="Wingdings" pitchFamily="2" charset="2"/>
              <a:buChar char="q"/>
            </a:pPr>
            <a:endParaRPr lang="en-US" sz="2400" dirty="0">
              <a:latin typeface="Montserrat" pitchFamily="2" charset="77"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latin typeface="Montserrat" pitchFamily="2" charset="77"/>
              </a:rPr>
              <a:t>Evaluation Milestones</a:t>
            </a:r>
            <a:r>
              <a:rPr lang="en-US" sz="2400" dirty="0">
                <a:latin typeface="Montserrat" pitchFamily="2" charset="77"/>
              </a:rPr>
              <a:t>: Projects culminate in a formal presentation, critically assessed by a panel of professors. (date: </a:t>
            </a:r>
            <a:r>
              <a:rPr lang="en-US" sz="2400" b="1" u="sng" dirty="0">
                <a:latin typeface="Montserrat" pitchFamily="2" charset="77"/>
              </a:rPr>
              <a:t>~July 7, 2026</a:t>
            </a:r>
            <a:r>
              <a:rPr lang="en-US" sz="2400" dirty="0">
                <a:latin typeface="Montserrat" pitchFamily="2" charset="77"/>
              </a:rPr>
              <a:t>).</a:t>
            </a:r>
          </a:p>
          <a:p>
            <a:pPr marL="342900" indent="-342900" algn="l">
              <a:buFont typeface="Wingdings" pitchFamily="2" charset="2"/>
              <a:buChar char="q"/>
            </a:pPr>
            <a:endParaRPr lang="en-US" sz="2400" dirty="0">
              <a:latin typeface="Montserrat" pitchFamily="2" charset="77"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latin typeface="Montserrat" pitchFamily="2" charset="77"/>
              </a:rPr>
              <a:t>Quality Assurance Checkpoint</a:t>
            </a:r>
            <a:r>
              <a:rPr lang="en-US" sz="2400" dirty="0">
                <a:latin typeface="Montserrat" pitchFamily="2" charset="77"/>
              </a:rPr>
              <a:t>: A preparatory review will be coordinated with the partner organization to ensure the project's alignment with business objectives.</a:t>
            </a:r>
          </a:p>
          <a:p>
            <a:pPr marL="342900" indent="-342900" algn="l">
              <a:buFont typeface="Wingdings" pitchFamily="2" charset="2"/>
              <a:buChar char="q"/>
            </a:pPr>
            <a:endParaRPr lang="en-US" sz="2400" dirty="0">
              <a:latin typeface="Montserrat" pitchFamily="2" charset="77"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latin typeface="Montserrat" pitchFamily="2" charset="77"/>
              </a:rPr>
              <a:t>Approval for Presentation</a:t>
            </a:r>
            <a:r>
              <a:rPr lang="en-US" sz="2400" dirty="0">
                <a:latin typeface="Montserrat" pitchFamily="2" charset="77"/>
              </a:rPr>
              <a:t>: Both the academic tutor and the organization's mentor must confirm the project meets a set standard of quality prior to presentation.</a:t>
            </a:r>
          </a:p>
          <a:p>
            <a:pPr marL="342900" indent="-342900" algn="l">
              <a:buFont typeface="Wingdings" pitchFamily="2" charset="2"/>
              <a:buChar char="q"/>
            </a:pPr>
            <a:endParaRPr lang="en-US" sz="2400" dirty="0">
              <a:latin typeface="Montserrat" pitchFamily="2" charset="77"/>
            </a:endParaRPr>
          </a:p>
          <a:p>
            <a:pPr marL="342900" indent="-342900" algn="l">
              <a:buFont typeface="Wingdings" pitchFamily="2" charset="2"/>
              <a:buChar char="q"/>
            </a:pPr>
            <a:r>
              <a:rPr lang="en-US" sz="2400" b="1" dirty="0">
                <a:latin typeface="Montserrat" pitchFamily="2" charset="77"/>
              </a:rPr>
              <a:t>Collaborative Learning: </a:t>
            </a:r>
            <a:r>
              <a:rPr lang="en-US" sz="2400" dirty="0">
                <a:latin typeface="Montserrat" pitchFamily="2" charset="77"/>
              </a:rPr>
              <a:t>Students will be organized into teams of 4-5 to address real-world business challenges provided by partnering organizations.</a:t>
            </a:r>
          </a:p>
        </p:txBody>
      </p:sp>
      <p:pic>
        <p:nvPicPr>
          <p:cNvPr id="3" name="Marcador de posición de imagen 5" descr="IML_8734-2 copia.png">
            <a:extLst>
              <a:ext uri="{FF2B5EF4-FFF2-40B4-BE49-F238E27FC236}">
                <a16:creationId xmlns:a16="http://schemas.microsoft.com/office/drawing/2014/main" id="{9C683E99-C414-18DD-1E1F-1E4A9BF8D4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572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3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ts val="6663"/>
              </a:lnSpc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Deliverables</a:t>
            </a:r>
            <a:endParaRPr lang="en-US" sz="7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should you deliver?</a:t>
            </a:r>
          </a:p>
        </p:txBody>
      </p:sp>
    </p:spTree>
    <p:extLst>
      <p:ext uri="{BB962C8B-B14F-4D97-AF65-F5344CB8AC3E}">
        <p14:creationId xmlns:p14="http://schemas.microsoft.com/office/powerpoint/2010/main" val="219235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190EAE5-DCAA-4713-A6B6-7CA5D70E7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9326" y="42020"/>
            <a:ext cx="11331882" cy="117002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92D050"/>
                </a:solidFill>
              </a:rPr>
              <a:t>Deliverables</a:t>
            </a:r>
          </a:p>
        </p:txBody>
      </p:sp>
      <p:pic>
        <p:nvPicPr>
          <p:cNvPr id="2" name="Imagen 1" descr="People in a presentation">
            <a:extLst>
              <a:ext uri="{FF2B5EF4-FFF2-40B4-BE49-F238E27FC236}">
                <a16:creationId xmlns:a16="http://schemas.microsoft.com/office/drawing/2014/main" id="{1DE197B4-4BD0-DE51-7EAB-F32945CC24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58" t="9618" r="39566" b="-2705"/>
          <a:stretch/>
        </p:blipFill>
        <p:spPr>
          <a:xfrm>
            <a:off x="0" y="0"/>
            <a:ext cx="4276323" cy="75091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3E9FBF7-BADC-D857-DD89-A17947E232F1}"/>
              </a:ext>
            </a:extLst>
          </p:cNvPr>
          <p:cNvSpPr txBox="1"/>
          <p:nvPr/>
        </p:nvSpPr>
        <p:spPr>
          <a:xfrm>
            <a:off x="5839326" y="2185496"/>
            <a:ext cx="11967411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b="1" dirty="0">
                <a:latin typeface="Montserrat" pitchFamily="2" charset="77"/>
              </a:rPr>
              <a:t>Written Report: </a:t>
            </a:r>
            <a:r>
              <a:rPr lang="en-US" dirty="0">
                <a:latin typeface="Montserrat" pitchFamily="2" charset="77"/>
              </a:rPr>
              <a:t>min 10 pages. max 20 pages. 1.0 spacing and 12-point Times New Roman. (</a:t>
            </a:r>
            <a:r>
              <a:rPr lang="en-US" b="1" dirty="0">
                <a:latin typeface="Montserrat" pitchFamily="2" charset="77"/>
              </a:rPr>
              <a:t>29 June, 2026</a:t>
            </a:r>
            <a:r>
              <a:rPr lang="en-US" dirty="0">
                <a:latin typeface="Montserrat" pitchFamily="2" charset="77"/>
              </a:rPr>
              <a:t>) </a:t>
            </a:r>
          </a:p>
          <a:p>
            <a:pPr indent="-4572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b="1" dirty="0">
                <a:latin typeface="Montserrat" pitchFamily="2" charset="77"/>
              </a:rPr>
              <a:t>Poster:</a:t>
            </a:r>
            <a:r>
              <a:rPr lang="en-US" dirty="0">
                <a:latin typeface="Montserrat" pitchFamily="2" charset="77"/>
              </a:rPr>
              <a:t>  pdf A0 format (</a:t>
            </a:r>
            <a:r>
              <a:rPr lang="en-US" b="1" dirty="0">
                <a:latin typeface="Montserrat" pitchFamily="2" charset="77"/>
              </a:rPr>
              <a:t>29 June, 2026</a:t>
            </a:r>
            <a:r>
              <a:rPr lang="en-US" dirty="0">
                <a:latin typeface="Montserrat" pitchFamily="2" charset="77"/>
              </a:rPr>
              <a:t>)</a:t>
            </a:r>
          </a:p>
          <a:p>
            <a:pPr indent="-4572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b="1" dirty="0">
                <a:latin typeface="Montserrat" pitchFamily="2" charset="77"/>
              </a:rPr>
              <a:t>Final Presentation:</a:t>
            </a:r>
            <a:r>
              <a:rPr lang="en-US" dirty="0">
                <a:latin typeface="Montserrat" pitchFamily="2" charset="77"/>
              </a:rPr>
              <a:t> </a:t>
            </a:r>
            <a:r>
              <a:rPr lang="en-US" dirty="0">
                <a:effectLst/>
                <a:latin typeface="Montserrat" pitchFamily="2" charset="77"/>
              </a:rPr>
              <a:t>by 23:59 (Madrid time) on the </a:t>
            </a:r>
            <a:r>
              <a:rPr lang="en-US" b="1" dirty="0">
                <a:effectLst/>
                <a:latin typeface="Montserrat" pitchFamily="2" charset="77"/>
              </a:rPr>
              <a:t>day before your final presentation (</a:t>
            </a:r>
            <a:r>
              <a:rPr lang="en-US" b="1" dirty="0">
                <a:latin typeface="Montserrat" pitchFamily="2" charset="77"/>
              </a:rPr>
              <a:t>July 6</a:t>
            </a:r>
            <a:r>
              <a:rPr lang="en-US" b="1" dirty="0">
                <a:effectLst/>
                <a:latin typeface="Montserrat" pitchFamily="2" charset="77"/>
              </a:rPr>
              <a:t>, 2026)</a:t>
            </a:r>
            <a:r>
              <a:rPr lang="en-US" dirty="0">
                <a:effectLst/>
                <a:latin typeface="Montserrat" pitchFamily="2" charset="77"/>
              </a:rPr>
              <a:t> </a:t>
            </a:r>
            <a:endParaRPr lang="en-US" dirty="0">
              <a:latin typeface="Montserrat" pitchFamily="2" charset="77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Montserrat" pitchFamily="2" charset="77"/>
              </a:rPr>
              <a:t>    Slides prepared for 15’ presentation.</a:t>
            </a:r>
          </a:p>
          <a:p>
            <a:pPr indent="-4572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b="1" dirty="0">
                <a:latin typeface="Montserrat" pitchFamily="2" charset="77"/>
              </a:rPr>
              <a:t>Code:</a:t>
            </a:r>
            <a:r>
              <a:rPr lang="en-US" dirty="0">
                <a:latin typeface="Montserrat" pitchFamily="2" charset="77"/>
              </a:rPr>
              <a:t> repository on </a:t>
            </a:r>
            <a:r>
              <a:rPr lang="en-US" dirty="0" err="1">
                <a:latin typeface="Montserrat" pitchFamily="2" charset="77"/>
              </a:rPr>
              <a:t>github</a:t>
            </a:r>
            <a:r>
              <a:rPr lang="en-US" dirty="0">
                <a:latin typeface="Montserrat" pitchFamily="2" charset="77"/>
              </a:rPr>
              <a:t> (accessible notebook) </a:t>
            </a:r>
          </a:p>
          <a:p>
            <a:pPr indent="-4572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b="1" dirty="0">
                <a:latin typeface="Montserrat" pitchFamily="2" charset="77"/>
              </a:rPr>
              <a:t>Ethics statement</a:t>
            </a:r>
            <a:r>
              <a:rPr lang="en-US" dirty="0">
                <a:latin typeface="Montserrat" pitchFamily="2" charset="77"/>
              </a:rPr>
              <a:t>: in the cover page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0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E685-5960-2F67-72F1-CAA1ED8A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C1A2955-FACA-134C-E695-ADF677709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9326" y="42020"/>
            <a:ext cx="11331882" cy="117002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92D050"/>
                </a:solidFill>
              </a:rPr>
              <a:t>Final Report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7CD7BCA-D9C3-5929-0E7D-26D50DB77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70358" cy="1029913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4E2E56C-F3B3-A785-7989-E223A94E6CEA}"/>
              </a:ext>
            </a:extLst>
          </p:cNvPr>
          <p:cNvSpPr txBox="1"/>
          <p:nvPr/>
        </p:nvSpPr>
        <p:spPr>
          <a:xfrm>
            <a:off x="5839326" y="1527770"/>
            <a:ext cx="11967411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800" b="1" dirty="0">
                <a:effectLst/>
                <a:latin typeface="Montserrat" pitchFamily="2" charset="77"/>
              </a:rPr>
              <a:t>Objective</a:t>
            </a:r>
            <a:r>
              <a:rPr lang="en-US" sz="2800" dirty="0">
                <a:effectLst/>
                <a:latin typeface="Montserrat" pitchFamily="2" charset="77"/>
              </a:rPr>
              <a:t>: Define the problem and the aim of the work.</a:t>
            </a:r>
            <a:br>
              <a:rPr lang="en-US" sz="2800" dirty="0">
                <a:effectLst/>
                <a:latin typeface="Montserrat" pitchFamily="2" charset="77"/>
              </a:rPr>
            </a:br>
            <a:endParaRPr lang="en-US" sz="2800" dirty="0">
              <a:effectLst/>
              <a:latin typeface="Montserrat" pitchFamily="2" charset="77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b="1" dirty="0">
                <a:effectLst/>
                <a:latin typeface="Montserrat" pitchFamily="2" charset="77"/>
              </a:rPr>
              <a:t>Data Sources</a:t>
            </a:r>
            <a:r>
              <a:rPr lang="en-US" sz="2800" dirty="0">
                <a:effectLst/>
                <a:latin typeface="Montserrat" pitchFamily="2" charset="77"/>
              </a:rPr>
              <a:t>: Detail the data used, including preparation and processing, and the acquisition </a:t>
            </a:r>
            <a:r>
              <a:rPr lang="en-US" sz="2800" dirty="0">
                <a:latin typeface="Montserrat" pitchFamily="2" charset="77"/>
              </a:rPr>
              <a:t> </a:t>
            </a:r>
            <a:r>
              <a:rPr lang="en-US" sz="2800" dirty="0">
                <a:effectLst/>
                <a:latin typeface="Montserrat" pitchFamily="2" charset="77"/>
              </a:rPr>
              <a:t>of any additional data.</a:t>
            </a:r>
            <a:br>
              <a:rPr lang="en-US" sz="2800" dirty="0">
                <a:effectLst/>
                <a:latin typeface="Montserrat" pitchFamily="2" charset="77"/>
              </a:rPr>
            </a:br>
            <a:endParaRPr lang="en-US" sz="2800" dirty="0">
              <a:effectLst/>
              <a:latin typeface="Montserrat" pitchFamily="2" charset="77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b="1" dirty="0">
                <a:effectLst/>
                <a:latin typeface="Montserrat" pitchFamily="2" charset="77"/>
              </a:rPr>
              <a:t>Methodology</a:t>
            </a:r>
            <a:r>
              <a:rPr lang="en-US" sz="2800" dirty="0">
                <a:effectLst/>
                <a:latin typeface="Montserrat" pitchFamily="2" charset="77"/>
              </a:rPr>
              <a:t>: Describe the tools, processes, and technology employed in problem-solving.</a:t>
            </a:r>
          </a:p>
          <a:p>
            <a:endParaRPr lang="en-US" sz="2800" dirty="0">
              <a:effectLst/>
              <a:latin typeface="Montserrat" pitchFamily="2" charset="77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b="1" dirty="0">
                <a:effectLst/>
                <a:latin typeface="Montserrat" pitchFamily="2" charset="77"/>
              </a:rPr>
              <a:t>Potential Solutions</a:t>
            </a:r>
            <a:r>
              <a:rPr lang="en-US" sz="2800" dirty="0">
                <a:effectLst/>
                <a:latin typeface="Montserrat" pitchFamily="2" charset="77"/>
              </a:rPr>
              <a:t>: Present at least two considered alternatives, explaining the rationale for </a:t>
            </a:r>
            <a:r>
              <a:rPr lang="en-US" sz="2800" dirty="0">
                <a:latin typeface="Montserrat" pitchFamily="2" charset="77"/>
              </a:rPr>
              <a:t> </a:t>
            </a:r>
            <a:r>
              <a:rPr lang="en-US" sz="2800" dirty="0">
                <a:effectLst/>
                <a:latin typeface="Montserrat" pitchFamily="2" charset="77"/>
              </a:rPr>
              <a:t>the chosen solution.</a:t>
            </a:r>
            <a:br>
              <a:rPr lang="en-US" sz="2800" dirty="0">
                <a:effectLst/>
                <a:latin typeface="Montserrat" pitchFamily="2" charset="77"/>
              </a:rPr>
            </a:br>
            <a:endParaRPr lang="en-US" sz="2800" dirty="0">
              <a:effectLst/>
              <a:latin typeface="Montserrat" pitchFamily="2" charset="77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b="1" dirty="0">
                <a:effectLst/>
                <a:latin typeface="Montserrat" pitchFamily="2" charset="77"/>
              </a:rPr>
              <a:t>Development</a:t>
            </a:r>
            <a:r>
              <a:rPr lang="en-US" sz="2800" dirty="0">
                <a:effectLst/>
                <a:latin typeface="Montserrat" pitchFamily="2" charset="77"/>
              </a:rPr>
              <a:t>: Include the code, adhering to standard practices for clarity and understanding by field specialists.</a:t>
            </a:r>
            <a:br>
              <a:rPr lang="en-US" sz="2800" dirty="0">
                <a:effectLst/>
                <a:latin typeface="Montserrat" pitchFamily="2" charset="77"/>
              </a:rPr>
            </a:br>
            <a:endParaRPr lang="en-US" sz="2800" dirty="0">
              <a:effectLst/>
              <a:latin typeface="Montserrat" pitchFamily="2" charset="77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800" b="1" dirty="0">
                <a:effectLst/>
                <a:latin typeface="Montserrat" pitchFamily="2" charset="77"/>
              </a:rPr>
              <a:t>Conclusions</a:t>
            </a:r>
            <a:r>
              <a:rPr lang="en-US" sz="2800" dirty="0">
                <a:effectLst/>
                <a:latin typeface="Montserrat" pitchFamily="2" charset="77"/>
              </a:rPr>
              <a:t>: Summarize the final result from a technical standpoint, encompassing metrics </a:t>
            </a:r>
            <a:r>
              <a:rPr lang="en-US" sz="2800" dirty="0">
                <a:latin typeface="Montserrat" pitchFamily="2" charset="77"/>
              </a:rPr>
              <a:t> </a:t>
            </a:r>
            <a:r>
              <a:rPr lang="en-US" sz="2800" dirty="0">
                <a:effectLst/>
                <a:latin typeface="Montserrat" pitchFamily="2" charset="77"/>
              </a:rPr>
              <a:t>like algorithm choice and precision, and discuss its impact and practicality for business implementation</a:t>
            </a:r>
            <a:r>
              <a:rPr lang="en-US" sz="2400" dirty="0">
                <a:effectLst/>
                <a:latin typeface="Montserrat" pitchFamily="2" charset="77"/>
              </a:rPr>
              <a:t>. </a:t>
            </a:r>
            <a:endParaRPr lang="en-US" sz="2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5957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4862CD-B965-6EFA-F0E1-1CF15028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7D3D9-519F-8C46-812B-589694C95712}" type="slidenum">
              <a:rPr lang="es-ES" smtClean="0"/>
              <a:pPr/>
              <a:t>15</a:t>
            </a:fld>
            <a:endParaRPr lang="es-ES"/>
          </a:p>
        </p:txBody>
      </p:sp>
      <p:pic>
        <p:nvPicPr>
          <p:cNvPr id="4" name="Picture 3" descr="A poster of a research&#10;&#10;AI-generated content may be incorrect.">
            <a:extLst>
              <a:ext uri="{FF2B5EF4-FFF2-40B4-BE49-F238E27FC236}">
                <a16:creationId xmlns:a16="http://schemas.microsoft.com/office/drawing/2014/main" id="{2AC619BD-B7DB-172F-09A6-8AAAA35628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17" t="802" r="21177"/>
          <a:stretch/>
        </p:blipFill>
        <p:spPr>
          <a:xfrm>
            <a:off x="1634838" y="1383718"/>
            <a:ext cx="5177640" cy="6984427"/>
          </a:xfrm>
          <a:prstGeom prst="rect">
            <a:avLst/>
          </a:prstGeom>
        </p:spPr>
      </p:pic>
      <p:pic>
        <p:nvPicPr>
          <p:cNvPr id="6" name="Picture 5" descr="A poster of a research&#10;&#10;AI-generated content may be incorrect.">
            <a:extLst>
              <a:ext uri="{FF2B5EF4-FFF2-40B4-BE49-F238E27FC236}">
                <a16:creationId xmlns:a16="http://schemas.microsoft.com/office/drawing/2014/main" id="{24B9D7A8-29D6-252A-FD1A-D66C36D0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22" r="22084"/>
          <a:stretch/>
        </p:blipFill>
        <p:spPr>
          <a:xfrm>
            <a:off x="7151144" y="1411427"/>
            <a:ext cx="4985875" cy="6984427"/>
          </a:xfrm>
          <a:prstGeom prst="rect">
            <a:avLst/>
          </a:prstGeom>
        </p:spPr>
      </p:pic>
      <p:pic>
        <p:nvPicPr>
          <p:cNvPr id="8" name="Picture 7" descr="A poster with text and images&#10;&#10;AI-generated content may be incorrect.">
            <a:extLst>
              <a:ext uri="{FF2B5EF4-FFF2-40B4-BE49-F238E27FC236}">
                <a16:creationId xmlns:a16="http://schemas.microsoft.com/office/drawing/2014/main" id="{BAAC2E73-93D8-28F6-BAF0-4AB9D14C3A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282" t="3110" r="22223"/>
          <a:stretch/>
        </p:blipFill>
        <p:spPr>
          <a:xfrm>
            <a:off x="12556222" y="1411427"/>
            <a:ext cx="5145928" cy="6984427"/>
          </a:xfrm>
          <a:prstGeom prst="rect">
            <a:avLst/>
          </a:prstGeom>
        </p:spPr>
      </p:pic>
      <p:sp>
        <p:nvSpPr>
          <p:cNvPr id="9" name="Título 4">
            <a:extLst>
              <a:ext uri="{FF2B5EF4-FFF2-40B4-BE49-F238E27FC236}">
                <a16:creationId xmlns:a16="http://schemas.microsoft.com/office/drawing/2014/main" id="{9A98B349-BB2F-0657-3D28-C8C8E3C1132F}"/>
              </a:ext>
            </a:extLst>
          </p:cNvPr>
          <p:cNvSpPr txBox="1">
            <a:spLocks/>
          </p:cNvSpPr>
          <p:nvPr/>
        </p:nvSpPr>
        <p:spPr>
          <a:xfrm>
            <a:off x="3478059" y="213695"/>
            <a:ext cx="11331882" cy="117002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816422" rtl="0" eaLnBrk="1" latinLnBrk="0" hangingPunct="1">
              <a:spcBef>
                <a:spcPct val="0"/>
              </a:spcBef>
              <a:buNone/>
              <a:defRPr sz="7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>
                <a:solidFill>
                  <a:srgbClr val="92D050"/>
                </a:solidFill>
              </a:rPr>
              <a:t>Poster presentation</a:t>
            </a:r>
            <a:endParaRPr lang="en-US" sz="60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05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E23F-D657-68DB-67DA-EB797CF0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8BDB648-3BC3-115D-B42D-00B40C4D8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9326" y="42020"/>
            <a:ext cx="11331882" cy="117002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92D050"/>
                </a:solidFill>
              </a:rPr>
              <a:t>Poster presentation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BDC32DA-A320-E4AF-BC16-9F87B1A87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70358" cy="1029913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E77708A-7E47-EEB3-81B9-99024473C91A}"/>
              </a:ext>
            </a:extLst>
          </p:cNvPr>
          <p:cNvSpPr txBox="1"/>
          <p:nvPr/>
        </p:nvSpPr>
        <p:spPr>
          <a:xfrm>
            <a:off x="5839326" y="1527770"/>
            <a:ext cx="11967411" cy="7986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 Clear Communication</a:t>
            </a:r>
            <a:r>
              <a:rPr lang="en-GB" dirty="0"/>
              <a:t>: Summarize key insights quickly and effectively.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 Visual Storytelling</a:t>
            </a:r>
            <a:r>
              <a:rPr lang="en-GB" dirty="0"/>
              <a:t>: Showcase data and solutions through strong visuals.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 Real-World Simulation</a:t>
            </a:r>
            <a:r>
              <a:rPr lang="en-GB" dirty="0"/>
              <a:t>: Practice business-style, executive-level presentations.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 Interactive Engagement</a:t>
            </a:r>
            <a:r>
              <a:rPr lang="en-GB" dirty="0"/>
              <a:t>: Discuss, explain, and defend work dynamically.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 Immediate Feedback</a:t>
            </a:r>
            <a:r>
              <a:rPr lang="en-GB" dirty="0"/>
              <a:t>: Gain insights from diverse viewers instantly.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 Portfolio Material</a:t>
            </a:r>
            <a:r>
              <a:rPr lang="en-GB" dirty="0"/>
              <a:t>: Create a professional artifact for interviews and networking.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b="1" dirty="0"/>
              <a:t> Confidence Building</a:t>
            </a:r>
            <a:r>
              <a:rPr lang="en-GB" dirty="0"/>
              <a:t>: Strengthen public speaking and adaptive thinking.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4556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ts val="6663"/>
              </a:lnSpc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Evaluation Criteria</a:t>
            </a:r>
            <a:endParaRPr lang="en-US" sz="7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you will be evaluated?</a:t>
            </a:r>
          </a:p>
        </p:txBody>
      </p:sp>
    </p:spTree>
    <p:extLst>
      <p:ext uri="{BB962C8B-B14F-4D97-AF65-F5344CB8AC3E}">
        <p14:creationId xmlns:p14="http://schemas.microsoft.com/office/powerpoint/2010/main" val="29907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190EAE5-DCAA-4713-A6B6-7CA5D70E7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8463" y="283743"/>
            <a:ext cx="11331882" cy="1170023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92D050"/>
                </a:solidFill>
              </a:rPr>
              <a:t>Evaluation Criteria</a:t>
            </a:r>
          </a:p>
        </p:txBody>
      </p:sp>
      <p:pic>
        <p:nvPicPr>
          <p:cNvPr id="3" name="Marcador de posición de imagen 2" descr="IML_8841 copia.png">
            <a:extLst>
              <a:ext uri="{FF2B5EF4-FFF2-40B4-BE49-F238E27FC236}">
                <a16:creationId xmlns:a16="http://schemas.microsoft.com/office/drawing/2014/main" id="{60225C44-05A7-C277-7011-A9FF0123FC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554538" cy="10287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283B7F9-0746-F1E2-1036-7FF08731E855}"/>
              </a:ext>
            </a:extLst>
          </p:cNvPr>
          <p:cNvSpPr txBox="1"/>
          <p:nvPr/>
        </p:nvSpPr>
        <p:spPr>
          <a:xfrm>
            <a:off x="4973054" y="2185496"/>
            <a:ext cx="12833684" cy="834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600" b="1" dirty="0">
                <a:latin typeface="Montserrat" pitchFamily="2" charset="77"/>
              </a:rPr>
              <a:t>Individual</a:t>
            </a:r>
            <a:r>
              <a:rPr lang="en-US" sz="3600" dirty="0">
                <a:latin typeface="Montserrat" pitchFamily="2" charset="77"/>
              </a:rPr>
              <a:t> Academic Tutor feedback: </a:t>
            </a:r>
            <a:r>
              <a:rPr lang="en-US" sz="3600" b="1" dirty="0">
                <a:latin typeface="Montserrat" pitchFamily="2" charset="77"/>
              </a:rPr>
              <a:t>40%</a:t>
            </a:r>
          </a:p>
          <a:p>
            <a:pPr marL="457200" indent="-457200">
              <a:buFont typeface="Wingdings" pitchFamily="2" charset="2"/>
              <a:buChar char="q"/>
            </a:pPr>
            <a:endParaRPr lang="en-US" sz="3600" b="1" dirty="0">
              <a:latin typeface="Montserrat" pitchFamily="2" charset="77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3600" dirty="0">
                <a:latin typeface="Montserrat" pitchFamily="2" charset="77"/>
              </a:rPr>
              <a:t>Project </a:t>
            </a:r>
            <a:r>
              <a:rPr lang="en-US" sz="3600" b="1" dirty="0">
                <a:latin typeface="Montserrat" pitchFamily="2" charset="77"/>
              </a:rPr>
              <a:t>report</a:t>
            </a:r>
            <a:r>
              <a:rPr lang="en-US" sz="3600" dirty="0">
                <a:latin typeface="Montserrat" pitchFamily="2" charset="77"/>
              </a:rPr>
              <a:t> and </a:t>
            </a:r>
            <a:r>
              <a:rPr lang="en-US" sz="3600" b="1" dirty="0">
                <a:latin typeface="Montserrat" pitchFamily="2" charset="77"/>
              </a:rPr>
              <a:t>presentation</a:t>
            </a:r>
            <a:r>
              <a:rPr lang="en-US" sz="3600" dirty="0">
                <a:latin typeface="Montserrat" pitchFamily="2" charset="77"/>
              </a:rPr>
              <a:t>: </a:t>
            </a:r>
            <a:r>
              <a:rPr lang="en-US" sz="3600" b="1" dirty="0">
                <a:latin typeface="Montserrat" pitchFamily="2" charset="77"/>
              </a:rPr>
              <a:t>60% </a:t>
            </a:r>
            <a:r>
              <a:rPr lang="en-US" sz="3600" dirty="0">
                <a:latin typeface="Montserrat" pitchFamily="2" charset="77"/>
              </a:rPr>
              <a:t>(2</a:t>
            </a:r>
            <a:r>
              <a:rPr lang="en-US" sz="3600" b="1" dirty="0">
                <a:latin typeface="Montserrat" pitchFamily="2" charset="77"/>
              </a:rPr>
              <a:t> </a:t>
            </a:r>
            <a:r>
              <a:rPr lang="en-US" sz="3600" dirty="0">
                <a:latin typeface="Montserrat" pitchFamily="2" charset="77"/>
              </a:rPr>
              <a:t>academics / professors and company mentor). Half of the 60% is individual and half is group.</a:t>
            </a:r>
          </a:p>
          <a:p>
            <a:endParaRPr lang="en-US" sz="3600" dirty="0">
              <a:latin typeface="Montserrat" pitchFamily="2" charset="77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>
                <a:latin typeface="Montserrat" pitchFamily="2" charset="77"/>
              </a:rPr>
              <a:t>Originality of the work and relevance of the proposed contribution: </a:t>
            </a:r>
            <a:r>
              <a:rPr lang="en-US" sz="3600" b="1" dirty="0">
                <a:latin typeface="Montserrat" pitchFamily="2" charset="77"/>
              </a:rPr>
              <a:t>25%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>
                <a:latin typeface="Montserrat" pitchFamily="2" charset="77"/>
              </a:rPr>
              <a:t>Methodological rigor and justification of the decisions made: </a:t>
            </a:r>
            <a:r>
              <a:rPr lang="en-US" sz="3600" b="1" dirty="0">
                <a:latin typeface="Montserrat" pitchFamily="2" charset="77"/>
              </a:rPr>
              <a:t>25%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>
                <a:latin typeface="Montserrat" pitchFamily="2" charset="77"/>
              </a:rPr>
              <a:t>Coherence, quality, and clarity in the written, oral, and visual presentation: </a:t>
            </a:r>
            <a:r>
              <a:rPr lang="en-US" sz="3600" b="1" dirty="0">
                <a:latin typeface="Montserrat" pitchFamily="2" charset="77"/>
              </a:rPr>
              <a:t>25%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>
                <a:latin typeface="Montserrat" pitchFamily="2" charset="77"/>
              </a:rPr>
              <a:t>Critical analysis and ability to defend the results in front of the </a:t>
            </a:r>
            <a:r>
              <a:rPr lang="en-US" sz="3600">
                <a:latin typeface="Montserrat" pitchFamily="2" charset="77"/>
              </a:rPr>
              <a:t>evaluation committee: </a:t>
            </a:r>
            <a:r>
              <a:rPr lang="en-US" sz="3600" b="1" dirty="0">
                <a:latin typeface="Montserrat" pitchFamily="2" charset="77"/>
              </a:rPr>
              <a:t>25%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6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10982</TotalTime>
  <Words>919</Words>
  <Application>Microsoft Office PowerPoint</Application>
  <PresentationFormat>Custom</PresentationFormat>
  <Paragraphs>114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Courier New</vt:lpstr>
      <vt:lpstr>Montserrat</vt:lpstr>
      <vt:lpstr>Montserrat Extra Bold</vt:lpstr>
      <vt:lpstr>Montserrat ExtraBold</vt:lpstr>
      <vt:lpstr>Montserrat Regular</vt:lpstr>
      <vt:lpstr>Wingdings</vt:lpstr>
      <vt:lpstr>Tema de Office</vt:lpstr>
      <vt:lpstr>MBDS Capstone Project:  Kick-Off, Sep 25 Intake </vt:lpstr>
      <vt:lpstr>Why is the capstone project one of the most important parts of your journey?</vt:lpstr>
      <vt:lpstr>Key points</vt:lpstr>
      <vt:lpstr>Projects</vt:lpstr>
      <vt:lpstr>Corporate project</vt:lpstr>
      <vt:lpstr>Timelines</vt:lpstr>
      <vt:lpstr>April 13 2026</vt:lpstr>
      <vt:lpstr>Course Objectives</vt:lpstr>
      <vt:lpstr>Course Objectives</vt:lpstr>
      <vt:lpstr>Course Methodology</vt:lpstr>
      <vt:lpstr>Course Methodology</vt:lpstr>
      <vt:lpstr>Deliverables</vt:lpstr>
      <vt:lpstr>Deliverables</vt:lpstr>
      <vt:lpstr>Final Report</vt:lpstr>
      <vt:lpstr>PowerPoint Presentation</vt:lpstr>
      <vt:lpstr>Poster presentation</vt:lpstr>
      <vt:lpstr>Evaluation Criteria</vt:lpstr>
      <vt:lpstr>Evaluation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Koldo Ugarte</dc:creator>
  <cp:lastModifiedBy>Sacha Huberty</cp:lastModifiedBy>
  <cp:revision>88</cp:revision>
  <cp:lastPrinted>2025-04-29T15:34:00Z</cp:lastPrinted>
  <dcterms:created xsi:type="dcterms:W3CDTF">2021-09-20T12:54:38Z</dcterms:created>
  <dcterms:modified xsi:type="dcterms:W3CDTF">2026-06-26T12:36:45Z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b742207-f172-4f87-acf3-9b9d90861219_Enabled">
    <vt:lpwstr>true</vt:lpwstr>
  </property>
  <property fmtid="{D5CDD505-2E9C-101B-9397-08002B2CF9AE}" pid="3" name="MSIP_Label_8b742207-f172-4f87-acf3-9b9d90861219_SetDate">
    <vt:lpwstr>2025-01-07T23:11:48Z</vt:lpwstr>
  </property>
  <property fmtid="{D5CDD505-2E9C-101B-9397-08002B2CF9AE}" pid="4" name="MSIP_Label_8b742207-f172-4f87-acf3-9b9d90861219_Method">
    <vt:lpwstr>Standard</vt:lpwstr>
  </property>
  <property fmtid="{D5CDD505-2E9C-101B-9397-08002B2CF9AE}" pid="5" name="MSIP_Label_8b742207-f172-4f87-acf3-9b9d90861219_Name">
    <vt:lpwstr>Internal</vt:lpwstr>
  </property>
  <property fmtid="{D5CDD505-2E9C-101B-9397-08002B2CF9AE}" pid="6" name="MSIP_Label_8b742207-f172-4f87-acf3-9b9d90861219_SiteId">
    <vt:lpwstr>4a39c578-6df0-42b9-a7e0-e9eac6d91816</vt:lpwstr>
  </property>
  <property fmtid="{D5CDD505-2E9C-101B-9397-08002B2CF9AE}" pid="7" name="MSIP_Label_8b742207-f172-4f87-acf3-9b9d90861219_ActionId">
    <vt:lpwstr>05a4698e-84cc-4209-a47b-59defcc9f25d</vt:lpwstr>
  </property>
  <property fmtid="{D5CDD505-2E9C-101B-9397-08002B2CF9AE}" pid="8" name="MSIP_Label_8b742207-f172-4f87-acf3-9b9d90861219_ContentBits">
    <vt:lpwstr>0</vt:lpwstr>
  </property>
</Properties>
</file>